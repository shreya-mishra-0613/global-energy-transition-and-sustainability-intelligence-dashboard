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8" r:id="rId2"/>
    <p:sldId id="259" r:id="rId3"/>
    <p:sldId id="260" r:id="rId4"/>
    <p:sldId id="261" r:id="rId5"/>
    <p:sldId id="262" r:id="rId6"/>
    <p:sldId id="263" r:id="rId7"/>
    <p:sldId id="268" r:id="rId8"/>
    <p:sldId id="269" r:id="rId9"/>
    <p:sldId id="266" r:id="rId10"/>
    <p:sldId id="267" r:id="rId11"/>
  </p:sldIdLst>
  <p:sldSz cx="9144000" cy="5143500" type="screen16x9"/>
  <p:notesSz cx="6858000" cy="9144000"/>
  <p:embeddedFontLst>
    <p:embeddedFont>
      <p:font typeface="Helvetica Neue Light" panose="020B0604020202020204" charset="0"/>
      <p:regular r:id="rId13"/>
      <p:bold r:id="rId14"/>
      <p:italic r:id="rId15"/>
      <p:boldItalic r:id="rId16"/>
    </p:embeddedFont>
    <p:embeddedFont>
      <p:font typeface="IBM Plex Sans" panose="020B0503050203000203" pitchFamily="34" charset="0"/>
      <p:regular r:id="rId17"/>
      <p:bold r:id="rId18"/>
      <p:italic r:id="rId19"/>
      <p:boldItalic r:id="rId20"/>
    </p:embeddedFont>
    <p:embeddedFont>
      <p:font typeface="IBM Plex Sans SemiBold" panose="020B0703050203000203" pitchFamily="34" charset="0"/>
      <p:bold r:id="rId21"/>
      <p:boldItalic r:id="rId22"/>
    </p:embeddedFont>
    <p:embeddedFont>
      <p:font typeface="Tahoma" panose="020B0604030504040204" pitchFamily="34"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saDHqNgUEp7JC6cpUXLrtytbs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33CC"/>
    <a:srgbClr val="0532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8C72B8-64C0-4508-B0C6-B7A0588F8A73}" type="doc">
      <dgm:prSet loTypeId="urn:microsoft.com/office/officeart/2005/8/layout/default" loCatId="list" qsTypeId="urn:microsoft.com/office/officeart/2005/8/quickstyle/3d1" qsCatId="3D" csTypeId="urn:microsoft.com/office/officeart/2005/8/colors/accent1_5" csCatId="accent1" phldr="1"/>
      <dgm:spPr/>
      <dgm:t>
        <a:bodyPr/>
        <a:lstStyle/>
        <a:p>
          <a:endParaRPr lang="en-IN"/>
        </a:p>
      </dgm:t>
    </dgm:pt>
    <dgm:pt modelId="{2B5E4A30-7BB1-4713-904A-902E25C3F4C1}">
      <dgm:prSet phldrT="[Text]" phldr="0" custT="1"/>
      <dgm:spPr/>
      <dgm:t>
        <a:bodyPr/>
        <a:lstStyle/>
        <a:p>
          <a:r>
            <a:rPr lang="en-US" sz="1400" dirty="0"/>
            <a:t>Country</a:t>
          </a:r>
          <a:endParaRPr lang="en-IN" sz="1400" dirty="0"/>
        </a:p>
      </dgm:t>
    </dgm:pt>
    <dgm:pt modelId="{ECADC76F-7FAD-4341-9891-2322C86224CA}" type="parTrans" cxnId="{2179220E-E018-4AA1-B084-0E32A614E9E5}">
      <dgm:prSet/>
      <dgm:spPr/>
      <dgm:t>
        <a:bodyPr/>
        <a:lstStyle/>
        <a:p>
          <a:endParaRPr lang="en-IN"/>
        </a:p>
      </dgm:t>
    </dgm:pt>
    <dgm:pt modelId="{325F7255-03DA-4870-93FD-1DF7B0E2F112}" type="sibTrans" cxnId="{2179220E-E018-4AA1-B084-0E32A614E9E5}">
      <dgm:prSet/>
      <dgm:spPr/>
      <dgm:t>
        <a:bodyPr/>
        <a:lstStyle/>
        <a:p>
          <a:endParaRPr lang="en-IN"/>
        </a:p>
      </dgm:t>
    </dgm:pt>
    <dgm:pt modelId="{8E05DF29-1321-4EAC-8C01-54CD85F252E9}">
      <dgm:prSet phldrT="[Text]" phldr="0" custT="1"/>
      <dgm:spPr/>
      <dgm:t>
        <a:bodyPr/>
        <a:lstStyle/>
        <a:p>
          <a:r>
            <a:rPr lang="en-US" sz="1400" dirty="0"/>
            <a:t>Year</a:t>
          </a:r>
          <a:endParaRPr lang="en-IN" sz="1400" dirty="0"/>
        </a:p>
      </dgm:t>
    </dgm:pt>
    <dgm:pt modelId="{B3E905C2-0F24-47FF-A654-A7502D48A7B6}" type="parTrans" cxnId="{8462A3E6-2E6A-4FB1-9A24-EA3460D74C23}">
      <dgm:prSet/>
      <dgm:spPr/>
      <dgm:t>
        <a:bodyPr/>
        <a:lstStyle/>
        <a:p>
          <a:endParaRPr lang="en-IN"/>
        </a:p>
      </dgm:t>
    </dgm:pt>
    <dgm:pt modelId="{86250E3B-63D1-4083-8011-1CB7AAD6B29F}" type="sibTrans" cxnId="{8462A3E6-2E6A-4FB1-9A24-EA3460D74C23}">
      <dgm:prSet/>
      <dgm:spPr/>
      <dgm:t>
        <a:bodyPr/>
        <a:lstStyle/>
        <a:p>
          <a:endParaRPr lang="en-IN"/>
        </a:p>
      </dgm:t>
    </dgm:pt>
    <dgm:pt modelId="{39DBABC6-8BF8-4270-9E4F-5C8E238D93C8}">
      <dgm:prSet phldrT="[Text]" phldr="0" custT="1"/>
      <dgm:spPr/>
      <dgm:t>
        <a:bodyPr/>
        <a:lstStyle/>
        <a:p>
          <a:r>
            <a:rPr lang="en-US" sz="1400" dirty="0"/>
            <a:t>Renewable Share</a:t>
          </a:r>
          <a:endParaRPr lang="en-IN" sz="1400" dirty="0"/>
        </a:p>
      </dgm:t>
    </dgm:pt>
    <dgm:pt modelId="{3AF78A19-1A0F-4966-9361-B1CA41589171}" type="parTrans" cxnId="{CA07B7DC-E70A-4EA2-9930-5D139889D950}">
      <dgm:prSet/>
      <dgm:spPr/>
      <dgm:t>
        <a:bodyPr/>
        <a:lstStyle/>
        <a:p>
          <a:endParaRPr lang="en-IN"/>
        </a:p>
      </dgm:t>
    </dgm:pt>
    <dgm:pt modelId="{283BDEE9-B45B-4D57-98F2-BB5B29CA8FAD}" type="sibTrans" cxnId="{CA07B7DC-E70A-4EA2-9930-5D139889D950}">
      <dgm:prSet/>
      <dgm:spPr/>
      <dgm:t>
        <a:bodyPr/>
        <a:lstStyle/>
        <a:p>
          <a:endParaRPr lang="en-IN"/>
        </a:p>
      </dgm:t>
    </dgm:pt>
    <dgm:pt modelId="{C21B49B6-A852-4ABC-9968-7AD72FF76811}">
      <dgm:prSet phldrT="[Text]" phldr="0" custT="1"/>
      <dgm:spPr/>
      <dgm:t>
        <a:bodyPr/>
        <a:lstStyle/>
        <a:p>
          <a:r>
            <a:rPr lang="en-US" sz="1400" dirty="0"/>
            <a:t>Primary Energy Consumption</a:t>
          </a:r>
          <a:endParaRPr lang="en-IN" sz="1400" dirty="0"/>
        </a:p>
      </dgm:t>
    </dgm:pt>
    <dgm:pt modelId="{E9EA7FB1-47BB-4ECA-A1D6-75006A7BC6C7}" type="parTrans" cxnId="{84FDB59C-45F1-43B5-907C-BEA04B80D9CF}">
      <dgm:prSet/>
      <dgm:spPr/>
      <dgm:t>
        <a:bodyPr/>
        <a:lstStyle/>
        <a:p>
          <a:endParaRPr lang="en-IN"/>
        </a:p>
      </dgm:t>
    </dgm:pt>
    <dgm:pt modelId="{D4A34E2D-6E78-413A-AC43-07FA8CDC4522}" type="sibTrans" cxnId="{84FDB59C-45F1-43B5-907C-BEA04B80D9CF}">
      <dgm:prSet/>
      <dgm:spPr/>
      <dgm:t>
        <a:bodyPr/>
        <a:lstStyle/>
        <a:p>
          <a:endParaRPr lang="en-IN"/>
        </a:p>
      </dgm:t>
    </dgm:pt>
    <dgm:pt modelId="{FEF603D3-61E6-4D2E-9AFE-3681A2134A61}">
      <dgm:prSet phldrT="[Text]" phldr="0" custT="1"/>
      <dgm:spPr/>
      <dgm:t>
        <a:bodyPr/>
        <a:lstStyle/>
        <a:p>
          <a:r>
            <a:rPr lang="en-US" sz="1400" dirty="0"/>
            <a:t>CO2 Emission</a:t>
          </a:r>
          <a:endParaRPr lang="en-IN" sz="1400" dirty="0"/>
        </a:p>
      </dgm:t>
    </dgm:pt>
    <dgm:pt modelId="{96996D3C-88DA-4F77-AC1A-EDC9B00A97EA}" type="parTrans" cxnId="{DD1857DA-1241-4F4B-9A63-0E2D98881264}">
      <dgm:prSet/>
      <dgm:spPr/>
      <dgm:t>
        <a:bodyPr/>
        <a:lstStyle/>
        <a:p>
          <a:endParaRPr lang="en-IN"/>
        </a:p>
      </dgm:t>
    </dgm:pt>
    <dgm:pt modelId="{8A7ED686-DC20-4446-B957-5B439FDA6B45}" type="sibTrans" cxnId="{DD1857DA-1241-4F4B-9A63-0E2D98881264}">
      <dgm:prSet/>
      <dgm:spPr/>
      <dgm:t>
        <a:bodyPr/>
        <a:lstStyle/>
        <a:p>
          <a:endParaRPr lang="en-IN"/>
        </a:p>
      </dgm:t>
    </dgm:pt>
    <dgm:pt modelId="{40F23AAB-9F3F-41B2-97DD-302BAEFE2F9D}">
      <dgm:prSet phldrT="[Text]" phldr="0" custT="1"/>
      <dgm:spPr/>
      <dgm:t>
        <a:bodyPr/>
        <a:lstStyle/>
        <a:p>
          <a:r>
            <a:rPr lang="en-US" sz="1400" dirty="0"/>
            <a:t>CO2 Per Capita</a:t>
          </a:r>
          <a:endParaRPr lang="en-IN" sz="1400" dirty="0"/>
        </a:p>
      </dgm:t>
    </dgm:pt>
    <dgm:pt modelId="{A3C3AD0C-4229-4949-8889-415071F691E1}" type="parTrans" cxnId="{47918729-1B4D-4E4E-A10A-12FBD0CD505D}">
      <dgm:prSet/>
      <dgm:spPr/>
      <dgm:t>
        <a:bodyPr/>
        <a:lstStyle/>
        <a:p>
          <a:endParaRPr lang="en-IN"/>
        </a:p>
      </dgm:t>
    </dgm:pt>
    <dgm:pt modelId="{13E46436-570E-4FFC-A245-11752EC93E19}" type="sibTrans" cxnId="{47918729-1B4D-4E4E-A10A-12FBD0CD505D}">
      <dgm:prSet/>
      <dgm:spPr/>
      <dgm:t>
        <a:bodyPr/>
        <a:lstStyle/>
        <a:p>
          <a:endParaRPr lang="en-IN"/>
        </a:p>
      </dgm:t>
    </dgm:pt>
    <dgm:pt modelId="{0C9E4729-FB8F-4C09-B74E-4DE258168754}">
      <dgm:prSet phldrT="[Text]" phldr="0" custT="1"/>
      <dgm:spPr/>
      <dgm:t>
        <a:bodyPr/>
        <a:lstStyle/>
        <a:p>
          <a:r>
            <a:rPr lang="en-US" sz="1400" dirty="0"/>
            <a:t>Carbon Intensity Electricity</a:t>
          </a:r>
          <a:endParaRPr lang="en-IN" sz="1400" dirty="0"/>
        </a:p>
      </dgm:t>
    </dgm:pt>
    <dgm:pt modelId="{DB86EAD0-72BC-4668-BFFA-F7BF23C965C3}" type="parTrans" cxnId="{FE4A4126-5FBB-4D67-BFCA-0236FEB055C3}">
      <dgm:prSet/>
      <dgm:spPr/>
      <dgm:t>
        <a:bodyPr/>
        <a:lstStyle/>
        <a:p>
          <a:endParaRPr lang="en-IN"/>
        </a:p>
      </dgm:t>
    </dgm:pt>
    <dgm:pt modelId="{76F96AF9-7B3A-41E0-9A78-1CA28B478D58}" type="sibTrans" cxnId="{FE4A4126-5FBB-4D67-BFCA-0236FEB055C3}">
      <dgm:prSet/>
      <dgm:spPr/>
      <dgm:t>
        <a:bodyPr/>
        <a:lstStyle/>
        <a:p>
          <a:endParaRPr lang="en-IN"/>
        </a:p>
      </dgm:t>
    </dgm:pt>
    <dgm:pt modelId="{BB48482C-CA5A-4320-AF82-0CA1FA47C5C5}">
      <dgm:prSet phldrT="[Text]" phldr="0" custT="1"/>
      <dgm:spPr/>
      <dgm:t>
        <a:bodyPr/>
        <a:lstStyle/>
        <a:p>
          <a:r>
            <a:rPr lang="en-US" sz="1400" dirty="0"/>
            <a:t>Greenhouse Gas Emissions</a:t>
          </a:r>
          <a:endParaRPr lang="en-IN" sz="1400" dirty="0"/>
        </a:p>
      </dgm:t>
    </dgm:pt>
    <dgm:pt modelId="{CCA88728-3711-482F-AE4E-EC05988E8AA8}" type="parTrans" cxnId="{7E3FF851-C46D-43CA-87DF-E127F6C445EE}">
      <dgm:prSet/>
      <dgm:spPr/>
      <dgm:t>
        <a:bodyPr/>
        <a:lstStyle/>
        <a:p>
          <a:endParaRPr lang="en-IN"/>
        </a:p>
      </dgm:t>
    </dgm:pt>
    <dgm:pt modelId="{C1BEBD74-F88D-4B42-93AD-A6F37A57A1E9}" type="sibTrans" cxnId="{7E3FF851-C46D-43CA-87DF-E127F6C445EE}">
      <dgm:prSet/>
      <dgm:spPr/>
      <dgm:t>
        <a:bodyPr/>
        <a:lstStyle/>
        <a:p>
          <a:endParaRPr lang="en-IN"/>
        </a:p>
      </dgm:t>
    </dgm:pt>
    <dgm:pt modelId="{4EEFE2A5-0703-4527-9EE5-FA4EA0E0F83B}">
      <dgm:prSet phldrT="[Text]" phldr="0" custT="1"/>
      <dgm:spPr/>
      <dgm:t>
        <a:bodyPr/>
        <a:lstStyle/>
        <a:p>
          <a:r>
            <a:rPr lang="en-US" sz="1400" dirty="0"/>
            <a:t>Temperature Change Contribution</a:t>
          </a:r>
          <a:endParaRPr lang="en-IN" sz="1400" dirty="0"/>
        </a:p>
      </dgm:t>
    </dgm:pt>
    <dgm:pt modelId="{4D1D9B57-1FAA-430B-8C90-207163002FD9}" type="parTrans" cxnId="{16948649-55DD-427F-9A4A-1D9F392C6EBE}">
      <dgm:prSet/>
      <dgm:spPr/>
      <dgm:t>
        <a:bodyPr/>
        <a:lstStyle/>
        <a:p>
          <a:endParaRPr lang="en-IN"/>
        </a:p>
      </dgm:t>
    </dgm:pt>
    <dgm:pt modelId="{A1190D63-2FC1-4B69-80C2-3A9D5225600E}" type="sibTrans" cxnId="{16948649-55DD-427F-9A4A-1D9F392C6EBE}">
      <dgm:prSet/>
      <dgm:spPr/>
      <dgm:t>
        <a:bodyPr/>
        <a:lstStyle/>
        <a:p>
          <a:endParaRPr lang="en-IN"/>
        </a:p>
      </dgm:t>
    </dgm:pt>
    <dgm:pt modelId="{B436E7F8-B3D3-4C17-90E8-6F3CEE44B060}" type="pres">
      <dgm:prSet presAssocID="{2D8C72B8-64C0-4508-B0C6-B7A0588F8A73}" presName="diagram" presStyleCnt="0">
        <dgm:presLayoutVars>
          <dgm:dir/>
          <dgm:resizeHandles val="exact"/>
        </dgm:presLayoutVars>
      </dgm:prSet>
      <dgm:spPr/>
    </dgm:pt>
    <dgm:pt modelId="{069D338E-E6A1-4D06-9252-1592DDF752AC}" type="pres">
      <dgm:prSet presAssocID="{2B5E4A30-7BB1-4713-904A-902E25C3F4C1}" presName="node" presStyleLbl="node1" presStyleIdx="0" presStyleCnt="9" custScaleX="92107">
        <dgm:presLayoutVars>
          <dgm:bulletEnabled val="1"/>
        </dgm:presLayoutVars>
      </dgm:prSet>
      <dgm:spPr/>
    </dgm:pt>
    <dgm:pt modelId="{DB4FAC7B-6BF7-4FBB-9176-5F2DA2F5DA8C}" type="pres">
      <dgm:prSet presAssocID="{325F7255-03DA-4870-93FD-1DF7B0E2F112}" presName="sibTrans" presStyleCnt="0"/>
      <dgm:spPr/>
    </dgm:pt>
    <dgm:pt modelId="{9A7F803A-E135-4DAD-8B1E-2E38BAC1246B}" type="pres">
      <dgm:prSet presAssocID="{8E05DF29-1321-4EAC-8C01-54CD85F252E9}" presName="node" presStyleLbl="node1" presStyleIdx="1" presStyleCnt="9" custScaleX="71948">
        <dgm:presLayoutVars>
          <dgm:bulletEnabled val="1"/>
        </dgm:presLayoutVars>
      </dgm:prSet>
      <dgm:spPr/>
    </dgm:pt>
    <dgm:pt modelId="{2E459CA5-5CC5-4319-9342-8EDA6FE47582}" type="pres">
      <dgm:prSet presAssocID="{86250E3B-63D1-4083-8011-1CB7AAD6B29F}" presName="sibTrans" presStyleCnt="0"/>
      <dgm:spPr/>
    </dgm:pt>
    <dgm:pt modelId="{E1E08EFE-CBFC-43BF-B4DA-4FFD6B34757D}" type="pres">
      <dgm:prSet presAssocID="{39DBABC6-8BF8-4270-9E4F-5C8E238D93C8}" presName="node" presStyleLbl="node1" presStyleIdx="2" presStyleCnt="9" custScaleX="126958">
        <dgm:presLayoutVars>
          <dgm:bulletEnabled val="1"/>
        </dgm:presLayoutVars>
      </dgm:prSet>
      <dgm:spPr/>
    </dgm:pt>
    <dgm:pt modelId="{C67DDFC7-C391-476E-90C0-BC8AD4869372}" type="pres">
      <dgm:prSet presAssocID="{283BDEE9-B45B-4D57-98F2-BB5B29CA8FAD}" presName="sibTrans" presStyleCnt="0"/>
      <dgm:spPr/>
    </dgm:pt>
    <dgm:pt modelId="{940C701F-A044-4797-9B60-75603176C3DC}" type="pres">
      <dgm:prSet presAssocID="{C21B49B6-A852-4ABC-9968-7AD72FF76811}" presName="node" presStyleLbl="node1" presStyleIdx="3" presStyleCnt="9" custScaleX="153757">
        <dgm:presLayoutVars>
          <dgm:bulletEnabled val="1"/>
        </dgm:presLayoutVars>
      </dgm:prSet>
      <dgm:spPr/>
    </dgm:pt>
    <dgm:pt modelId="{24E108BE-F5D2-4F40-8C5F-A865D48193D9}" type="pres">
      <dgm:prSet presAssocID="{D4A34E2D-6E78-413A-AC43-07FA8CDC4522}" presName="sibTrans" presStyleCnt="0"/>
      <dgm:spPr/>
    </dgm:pt>
    <dgm:pt modelId="{5EF3292E-22C5-4427-A9A1-C57F66C5E671}" type="pres">
      <dgm:prSet presAssocID="{FEF603D3-61E6-4D2E-9AFE-3681A2134A61}" presName="node" presStyleLbl="node1" presStyleIdx="4" presStyleCnt="9">
        <dgm:presLayoutVars>
          <dgm:bulletEnabled val="1"/>
        </dgm:presLayoutVars>
      </dgm:prSet>
      <dgm:spPr/>
    </dgm:pt>
    <dgm:pt modelId="{7CFE7423-CD1B-4340-B5C2-3ADBDB191807}" type="pres">
      <dgm:prSet presAssocID="{8A7ED686-DC20-4446-B957-5B439FDA6B45}" presName="sibTrans" presStyleCnt="0"/>
      <dgm:spPr/>
    </dgm:pt>
    <dgm:pt modelId="{F707F0F1-76C5-4202-B010-4DD4158941EF}" type="pres">
      <dgm:prSet presAssocID="{40F23AAB-9F3F-41B2-97DD-302BAEFE2F9D}" presName="node" presStyleLbl="node1" presStyleIdx="5" presStyleCnt="9" custScaleX="152797">
        <dgm:presLayoutVars>
          <dgm:bulletEnabled val="1"/>
        </dgm:presLayoutVars>
      </dgm:prSet>
      <dgm:spPr/>
    </dgm:pt>
    <dgm:pt modelId="{C9B7F2B3-5F17-4E79-8E51-91D160F9F38B}" type="pres">
      <dgm:prSet presAssocID="{13E46436-570E-4FFC-A245-11752EC93E19}" presName="sibTrans" presStyleCnt="0"/>
      <dgm:spPr/>
    </dgm:pt>
    <dgm:pt modelId="{EBA429E7-8B01-4284-8898-CF937260C92D}" type="pres">
      <dgm:prSet presAssocID="{0C9E4729-FB8F-4C09-B74E-4DE258168754}" presName="node" presStyleLbl="node1" presStyleIdx="6" presStyleCnt="9" custScaleX="154243">
        <dgm:presLayoutVars>
          <dgm:bulletEnabled val="1"/>
        </dgm:presLayoutVars>
      </dgm:prSet>
      <dgm:spPr/>
    </dgm:pt>
    <dgm:pt modelId="{BC36C8C3-818E-4C84-BF98-BC5D61E43371}" type="pres">
      <dgm:prSet presAssocID="{76F96AF9-7B3A-41E0-9A78-1CA28B478D58}" presName="sibTrans" presStyleCnt="0"/>
      <dgm:spPr/>
    </dgm:pt>
    <dgm:pt modelId="{F772D7D7-6564-425E-9428-A4506D9897C5}" type="pres">
      <dgm:prSet presAssocID="{BB48482C-CA5A-4320-AF82-0CA1FA47C5C5}" presName="node" presStyleLbl="node1" presStyleIdx="7" presStyleCnt="9" custScaleX="125693">
        <dgm:presLayoutVars>
          <dgm:bulletEnabled val="1"/>
        </dgm:presLayoutVars>
      </dgm:prSet>
      <dgm:spPr/>
    </dgm:pt>
    <dgm:pt modelId="{270E9B5B-BF77-4414-9600-512F1F37170E}" type="pres">
      <dgm:prSet presAssocID="{C1BEBD74-F88D-4B42-93AD-A6F37A57A1E9}" presName="sibTrans" presStyleCnt="0"/>
      <dgm:spPr/>
    </dgm:pt>
    <dgm:pt modelId="{56AEB0EE-259E-4D44-9FC2-5239A2E489E2}" type="pres">
      <dgm:prSet presAssocID="{4EEFE2A5-0703-4527-9EE5-FA4EA0E0F83B}" presName="node" presStyleLbl="node1" presStyleIdx="8" presStyleCnt="9" custScaleX="170762">
        <dgm:presLayoutVars>
          <dgm:bulletEnabled val="1"/>
        </dgm:presLayoutVars>
      </dgm:prSet>
      <dgm:spPr/>
    </dgm:pt>
  </dgm:ptLst>
  <dgm:cxnLst>
    <dgm:cxn modelId="{2179220E-E018-4AA1-B084-0E32A614E9E5}" srcId="{2D8C72B8-64C0-4508-B0C6-B7A0588F8A73}" destId="{2B5E4A30-7BB1-4713-904A-902E25C3F4C1}" srcOrd="0" destOrd="0" parTransId="{ECADC76F-7FAD-4341-9891-2322C86224CA}" sibTransId="{325F7255-03DA-4870-93FD-1DF7B0E2F112}"/>
    <dgm:cxn modelId="{E77AD71B-0876-4DE5-989F-B1A532549BE3}" type="presOf" srcId="{FEF603D3-61E6-4D2E-9AFE-3681A2134A61}" destId="{5EF3292E-22C5-4427-A9A1-C57F66C5E671}" srcOrd="0" destOrd="0" presId="urn:microsoft.com/office/officeart/2005/8/layout/default"/>
    <dgm:cxn modelId="{FE4A4126-5FBB-4D67-BFCA-0236FEB055C3}" srcId="{2D8C72B8-64C0-4508-B0C6-B7A0588F8A73}" destId="{0C9E4729-FB8F-4C09-B74E-4DE258168754}" srcOrd="6" destOrd="0" parTransId="{DB86EAD0-72BC-4668-BFFA-F7BF23C965C3}" sibTransId="{76F96AF9-7B3A-41E0-9A78-1CA28B478D58}"/>
    <dgm:cxn modelId="{47918729-1B4D-4E4E-A10A-12FBD0CD505D}" srcId="{2D8C72B8-64C0-4508-B0C6-B7A0588F8A73}" destId="{40F23AAB-9F3F-41B2-97DD-302BAEFE2F9D}" srcOrd="5" destOrd="0" parTransId="{A3C3AD0C-4229-4949-8889-415071F691E1}" sibTransId="{13E46436-570E-4FFC-A245-11752EC93E19}"/>
    <dgm:cxn modelId="{634F7A3A-D46B-42EB-A8F8-D726B1EB33E3}" type="presOf" srcId="{C21B49B6-A852-4ABC-9968-7AD72FF76811}" destId="{940C701F-A044-4797-9B60-75603176C3DC}" srcOrd="0" destOrd="0" presId="urn:microsoft.com/office/officeart/2005/8/layout/default"/>
    <dgm:cxn modelId="{0B066843-1978-4BFE-8AFE-CDD4582482A9}" type="presOf" srcId="{2D8C72B8-64C0-4508-B0C6-B7A0588F8A73}" destId="{B436E7F8-B3D3-4C17-90E8-6F3CEE44B060}" srcOrd="0" destOrd="0" presId="urn:microsoft.com/office/officeart/2005/8/layout/default"/>
    <dgm:cxn modelId="{9374B245-6659-461D-BDAA-1F08300648DD}" type="presOf" srcId="{8E05DF29-1321-4EAC-8C01-54CD85F252E9}" destId="{9A7F803A-E135-4DAD-8B1E-2E38BAC1246B}" srcOrd="0" destOrd="0" presId="urn:microsoft.com/office/officeart/2005/8/layout/default"/>
    <dgm:cxn modelId="{16948649-55DD-427F-9A4A-1D9F392C6EBE}" srcId="{2D8C72B8-64C0-4508-B0C6-B7A0588F8A73}" destId="{4EEFE2A5-0703-4527-9EE5-FA4EA0E0F83B}" srcOrd="8" destOrd="0" parTransId="{4D1D9B57-1FAA-430B-8C90-207163002FD9}" sibTransId="{A1190D63-2FC1-4B69-80C2-3A9D5225600E}"/>
    <dgm:cxn modelId="{7E3FF851-C46D-43CA-87DF-E127F6C445EE}" srcId="{2D8C72B8-64C0-4508-B0C6-B7A0588F8A73}" destId="{BB48482C-CA5A-4320-AF82-0CA1FA47C5C5}" srcOrd="7" destOrd="0" parTransId="{CCA88728-3711-482F-AE4E-EC05988E8AA8}" sibTransId="{C1BEBD74-F88D-4B42-93AD-A6F37A57A1E9}"/>
    <dgm:cxn modelId="{D741E17D-DD5B-44A4-8498-CD32BD9B8129}" type="presOf" srcId="{4EEFE2A5-0703-4527-9EE5-FA4EA0E0F83B}" destId="{56AEB0EE-259E-4D44-9FC2-5239A2E489E2}" srcOrd="0" destOrd="0" presId="urn:microsoft.com/office/officeart/2005/8/layout/default"/>
    <dgm:cxn modelId="{EBF2C386-CC5D-4291-8763-D7FB2CF6DFA3}" type="presOf" srcId="{39DBABC6-8BF8-4270-9E4F-5C8E238D93C8}" destId="{E1E08EFE-CBFC-43BF-B4DA-4FFD6B34757D}" srcOrd="0" destOrd="0" presId="urn:microsoft.com/office/officeart/2005/8/layout/default"/>
    <dgm:cxn modelId="{84FDB59C-45F1-43B5-907C-BEA04B80D9CF}" srcId="{2D8C72B8-64C0-4508-B0C6-B7A0588F8A73}" destId="{C21B49B6-A852-4ABC-9968-7AD72FF76811}" srcOrd="3" destOrd="0" parTransId="{E9EA7FB1-47BB-4ECA-A1D6-75006A7BC6C7}" sibTransId="{D4A34E2D-6E78-413A-AC43-07FA8CDC4522}"/>
    <dgm:cxn modelId="{640CDDA5-7F7A-4C0E-A3A7-9C22213FB8B6}" type="presOf" srcId="{0C9E4729-FB8F-4C09-B74E-4DE258168754}" destId="{EBA429E7-8B01-4284-8898-CF937260C92D}" srcOrd="0" destOrd="0" presId="urn:microsoft.com/office/officeart/2005/8/layout/default"/>
    <dgm:cxn modelId="{D0FCF5A6-5464-4AD3-8FCC-0937B1E8BF50}" type="presOf" srcId="{BB48482C-CA5A-4320-AF82-0CA1FA47C5C5}" destId="{F772D7D7-6564-425E-9428-A4506D9897C5}" srcOrd="0" destOrd="0" presId="urn:microsoft.com/office/officeart/2005/8/layout/default"/>
    <dgm:cxn modelId="{DD1857DA-1241-4F4B-9A63-0E2D98881264}" srcId="{2D8C72B8-64C0-4508-B0C6-B7A0588F8A73}" destId="{FEF603D3-61E6-4D2E-9AFE-3681A2134A61}" srcOrd="4" destOrd="0" parTransId="{96996D3C-88DA-4F77-AC1A-EDC9B00A97EA}" sibTransId="{8A7ED686-DC20-4446-B957-5B439FDA6B45}"/>
    <dgm:cxn modelId="{CA07B7DC-E70A-4EA2-9930-5D139889D950}" srcId="{2D8C72B8-64C0-4508-B0C6-B7A0588F8A73}" destId="{39DBABC6-8BF8-4270-9E4F-5C8E238D93C8}" srcOrd="2" destOrd="0" parTransId="{3AF78A19-1A0F-4966-9361-B1CA41589171}" sibTransId="{283BDEE9-B45B-4D57-98F2-BB5B29CA8FAD}"/>
    <dgm:cxn modelId="{185F60E3-101F-4B7B-901C-E7D3443C9D10}" type="presOf" srcId="{2B5E4A30-7BB1-4713-904A-902E25C3F4C1}" destId="{069D338E-E6A1-4D06-9252-1592DDF752AC}" srcOrd="0" destOrd="0" presId="urn:microsoft.com/office/officeart/2005/8/layout/default"/>
    <dgm:cxn modelId="{8462A3E6-2E6A-4FB1-9A24-EA3460D74C23}" srcId="{2D8C72B8-64C0-4508-B0C6-B7A0588F8A73}" destId="{8E05DF29-1321-4EAC-8C01-54CD85F252E9}" srcOrd="1" destOrd="0" parTransId="{B3E905C2-0F24-47FF-A654-A7502D48A7B6}" sibTransId="{86250E3B-63D1-4083-8011-1CB7AAD6B29F}"/>
    <dgm:cxn modelId="{E3BBA3F7-1209-4C55-BB72-607EA560870D}" type="presOf" srcId="{40F23AAB-9F3F-41B2-97DD-302BAEFE2F9D}" destId="{F707F0F1-76C5-4202-B010-4DD4158941EF}" srcOrd="0" destOrd="0" presId="urn:microsoft.com/office/officeart/2005/8/layout/default"/>
    <dgm:cxn modelId="{F91C79F4-28A2-4920-AA71-E071DF0CCB1A}" type="presParOf" srcId="{B436E7F8-B3D3-4C17-90E8-6F3CEE44B060}" destId="{069D338E-E6A1-4D06-9252-1592DDF752AC}" srcOrd="0" destOrd="0" presId="urn:microsoft.com/office/officeart/2005/8/layout/default"/>
    <dgm:cxn modelId="{85E6AF49-1123-4E69-AD53-100C7FB17B75}" type="presParOf" srcId="{B436E7F8-B3D3-4C17-90E8-6F3CEE44B060}" destId="{DB4FAC7B-6BF7-4FBB-9176-5F2DA2F5DA8C}" srcOrd="1" destOrd="0" presId="urn:microsoft.com/office/officeart/2005/8/layout/default"/>
    <dgm:cxn modelId="{F3E9FABE-0FEA-4479-ABE5-142DF6D59F11}" type="presParOf" srcId="{B436E7F8-B3D3-4C17-90E8-6F3CEE44B060}" destId="{9A7F803A-E135-4DAD-8B1E-2E38BAC1246B}" srcOrd="2" destOrd="0" presId="urn:microsoft.com/office/officeart/2005/8/layout/default"/>
    <dgm:cxn modelId="{D61308D3-514C-4ACE-BB63-B489817081BA}" type="presParOf" srcId="{B436E7F8-B3D3-4C17-90E8-6F3CEE44B060}" destId="{2E459CA5-5CC5-4319-9342-8EDA6FE47582}" srcOrd="3" destOrd="0" presId="urn:microsoft.com/office/officeart/2005/8/layout/default"/>
    <dgm:cxn modelId="{C094C192-F379-4676-BF84-8294FE7E386A}" type="presParOf" srcId="{B436E7F8-B3D3-4C17-90E8-6F3CEE44B060}" destId="{E1E08EFE-CBFC-43BF-B4DA-4FFD6B34757D}" srcOrd="4" destOrd="0" presId="urn:microsoft.com/office/officeart/2005/8/layout/default"/>
    <dgm:cxn modelId="{2C0C830B-2CB2-4337-9445-F99BB73D2749}" type="presParOf" srcId="{B436E7F8-B3D3-4C17-90E8-6F3CEE44B060}" destId="{C67DDFC7-C391-476E-90C0-BC8AD4869372}" srcOrd="5" destOrd="0" presId="urn:microsoft.com/office/officeart/2005/8/layout/default"/>
    <dgm:cxn modelId="{D993168B-E5B8-4314-8C7F-A57A555E5DB5}" type="presParOf" srcId="{B436E7F8-B3D3-4C17-90E8-6F3CEE44B060}" destId="{940C701F-A044-4797-9B60-75603176C3DC}" srcOrd="6" destOrd="0" presId="urn:microsoft.com/office/officeart/2005/8/layout/default"/>
    <dgm:cxn modelId="{00D469B6-A187-4425-8BD7-327972D83C3C}" type="presParOf" srcId="{B436E7F8-B3D3-4C17-90E8-6F3CEE44B060}" destId="{24E108BE-F5D2-4F40-8C5F-A865D48193D9}" srcOrd="7" destOrd="0" presId="urn:microsoft.com/office/officeart/2005/8/layout/default"/>
    <dgm:cxn modelId="{3C2E68AD-7DD4-4AFC-9EA7-3A4AA2B027C9}" type="presParOf" srcId="{B436E7F8-B3D3-4C17-90E8-6F3CEE44B060}" destId="{5EF3292E-22C5-4427-A9A1-C57F66C5E671}" srcOrd="8" destOrd="0" presId="urn:microsoft.com/office/officeart/2005/8/layout/default"/>
    <dgm:cxn modelId="{A07D1F7F-1CF9-4291-9AE8-C8A6D6B010BC}" type="presParOf" srcId="{B436E7F8-B3D3-4C17-90E8-6F3CEE44B060}" destId="{7CFE7423-CD1B-4340-B5C2-3ADBDB191807}" srcOrd="9" destOrd="0" presId="urn:microsoft.com/office/officeart/2005/8/layout/default"/>
    <dgm:cxn modelId="{DDF6A12B-D11D-47FD-9CC3-9B55C2C8DD3C}" type="presParOf" srcId="{B436E7F8-B3D3-4C17-90E8-6F3CEE44B060}" destId="{F707F0F1-76C5-4202-B010-4DD4158941EF}" srcOrd="10" destOrd="0" presId="urn:microsoft.com/office/officeart/2005/8/layout/default"/>
    <dgm:cxn modelId="{B4C4DBDF-F360-44A6-9F36-DE00C0C41033}" type="presParOf" srcId="{B436E7F8-B3D3-4C17-90E8-6F3CEE44B060}" destId="{C9B7F2B3-5F17-4E79-8E51-91D160F9F38B}" srcOrd="11" destOrd="0" presId="urn:microsoft.com/office/officeart/2005/8/layout/default"/>
    <dgm:cxn modelId="{58555FF7-898D-471D-BA68-E3F4AAFDB56D}" type="presParOf" srcId="{B436E7F8-B3D3-4C17-90E8-6F3CEE44B060}" destId="{EBA429E7-8B01-4284-8898-CF937260C92D}" srcOrd="12" destOrd="0" presId="urn:microsoft.com/office/officeart/2005/8/layout/default"/>
    <dgm:cxn modelId="{3E6C366E-0313-4528-8F91-DDD97451F054}" type="presParOf" srcId="{B436E7F8-B3D3-4C17-90E8-6F3CEE44B060}" destId="{BC36C8C3-818E-4C84-BF98-BC5D61E43371}" srcOrd="13" destOrd="0" presId="urn:microsoft.com/office/officeart/2005/8/layout/default"/>
    <dgm:cxn modelId="{DC3CB727-2C22-4DC4-BCB2-28E39B5B1767}" type="presParOf" srcId="{B436E7F8-B3D3-4C17-90E8-6F3CEE44B060}" destId="{F772D7D7-6564-425E-9428-A4506D9897C5}" srcOrd="14" destOrd="0" presId="urn:microsoft.com/office/officeart/2005/8/layout/default"/>
    <dgm:cxn modelId="{B2AFB9BB-5A78-49B6-B689-7C5FD5CC5FF1}" type="presParOf" srcId="{B436E7F8-B3D3-4C17-90E8-6F3CEE44B060}" destId="{270E9B5B-BF77-4414-9600-512F1F37170E}" srcOrd="15" destOrd="0" presId="urn:microsoft.com/office/officeart/2005/8/layout/default"/>
    <dgm:cxn modelId="{42508809-BCB4-423E-AD92-475672B1FB2D}" type="presParOf" srcId="{B436E7F8-B3D3-4C17-90E8-6F3CEE44B060}" destId="{56AEB0EE-259E-4D44-9FC2-5239A2E489E2}" srcOrd="16" destOrd="0" presId="urn:microsoft.com/office/officeart/2005/8/layout/default"/>
  </dgm:cxnLst>
  <dgm:bg>
    <a:noFill/>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9D338E-E6A1-4D06-9252-1592DDF752AC}">
      <dsp:nvSpPr>
        <dsp:cNvPr id="0" name=""/>
        <dsp:cNvSpPr/>
      </dsp:nvSpPr>
      <dsp:spPr>
        <a:xfrm>
          <a:off x="2119" y="525232"/>
          <a:ext cx="966620" cy="629672"/>
        </a:xfrm>
        <a:prstGeom prst="rect">
          <a:avLst/>
        </a:prstGeom>
        <a:gradFill rotWithShape="0">
          <a:gsLst>
            <a:gs pos="0">
              <a:schemeClr val="accent1">
                <a:alpha val="90000"/>
                <a:hueOff val="0"/>
                <a:satOff val="0"/>
                <a:lumOff val="0"/>
                <a:alphaOff val="0"/>
                <a:tint val="100000"/>
                <a:shade val="100000"/>
                <a:satMod val="130000"/>
              </a:schemeClr>
            </a:gs>
            <a:gs pos="100000">
              <a:schemeClr val="accent1">
                <a:alpha val="9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Country</a:t>
          </a:r>
          <a:endParaRPr lang="en-IN" sz="1400" kern="1200" dirty="0"/>
        </a:p>
      </dsp:txBody>
      <dsp:txXfrm>
        <a:off x="2119" y="525232"/>
        <a:ext cx="966620" cy="629672"/>
      </dsp:txXfrm>
    </dsp:sp>
    <dsp:sp modelId="{9A7F803A-E135-4DAD-8B1E-2E38BAC1246B}">
      <dsp:nvSpPr>
        <dsp:cNvPr id="0" name=""/>
        <dsp:cNvSpPr/>
      </dsp:nvSpPr>
      <dsp:spPr>
        <a:xfrm>
          <a:off x="1073685" y="525232"/>
          <a:ext cx="755060" cy="629672"/>
        </a:xfrm>
        <a:prstGeom prst="rect">
          <a:avLst/>
        </a:prstGeom>
        <a:gradFill rotWithShape="0">
          <a:gsLst>
            <a:gs pos="0">
              <a:schemeClr val="accent1">
                <a:alpha val="90000"/>
                <a:hueOff val="0"/>
                <a:satOff val="0"/>
                <a:lumOff val="0"/>
                <a:alphaOff val="-5000"/>
                <a:tint val="100000"/>
                <a:shade val="100000"/>
                <a:satMod val="130000"/>
              </a:schemeClr>
            </a:gs>
            <a:gs pos="100000">
              <a:schemeClr val="accent1">
                <a:alpha val="90000"/>
                <a:hueOff val="0"/>
                <a:satOff val="0"/>
                <a:lumOff val="0"/>
                <a:alphaOff val="-500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Year</a:t>
          </a:r>
          <a:endParaRPr lang="en-IN" sz="1400" kern="1200" dirty="0"/>
        </a:p>
      </dsp:txBody>
      <dsp:txXfrm>
        <a:off x="1073685" y="525232"/>
        <a:ext cx="755060" cy="629672"/>
      </dsp:txXfrm>
    </dsp:sp>
    <dsp:sp modelId="{E1E08EFE-CBFC-43BF-B4DA-4FFD6B34757D}">
      <dsp:nvSpPr>
        <dsp:cNvPr id="0" name=""/>
        <dsp:cNvSpPr/>
      </dsp:nvSpPr>
      <dsp:spPr>
        <a:xfrm>
          <a:off x="1933691" y="525232"/>
          <a:ext cx="1332365" cy="629672"/>
        </a:xfrm>
        <a:prstGeom prst="rect">
          <a:avLst/>
        </a:prstGeom>
        <a:gradFill rotWithShape="0">
          <a:gsLst>
            <a:gs pos="0">
              <a:schemeClr val="accent1">
                <a:alpha val="90000"/>
                <a:hueOff val="0"/>
                <a:satOff val="0"/>
                <a:lumOff val="0"/>
                <a:alphaOff val="-10000"/>
                <a:tint val="100000"/>
                <a:shade val="100000"/>
                <a:satMod val="130000"/>
              </a:schemeClr>
            </a:gs>
            <a:gs pos="100000">
              <a:schemeClr val="accent1">
                <a:alpha val="90000"/>
                <a:hueOff val="0"/>
                <a:satOff val="0"/>
                <a:lumOff val="0"/>
                <a:alphaOff val="-1000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Renewable Share</a:t>
          </a:r>
          <a:endParaRPr lang="en-IN" sz="1400" kern="1200" dirty="0"/>
        </a:p>
      </dsp:txBody>
      <dsp:txXfrm>
        <a:off x="1933691" y="525232"/>
        <a:ext cx="1332365" cy="629672"/>
      </dsp:txXfrm>
    </dsp:sp>
    <dsp:sp modelId="{940C701F-A044-4797-9B60-75603176C3DC}">
      <dsp:nvSpPr>
        <dsp:cNvPr id="0" name=""/>
        <dsp:cNvSpPr/>
      </dsp:nvSpPr>
      <dsp:spPr>
        <a:xfrm>
          <a:off x="3371001" y="525232"/>
          <a:ext cx="1613608" cy="629672"/>
        </a:xfrm>
        <a:prstGeom prst="rect">
          <a:avLst/>
        </a:prstGeom>
        <a:gradFill rotWithShape="0">
          <a:gsLst>
            <a:gs pos="0">
              <a:schemeClr val="accent1">
                <a:alpha val="90000"/>
                <a:hueOff val="0"/>
                <a:satOff val="0"/>
                <a:lumOff val="0"/>
                <a:alphaOff val="-15000"/>
                <a:tint val="100000"/>
                <a:shade val="100000"/>
                <a:satMod val="130000"/>
              </a:schemeClr>
            </a:gs>
            <a:gs pos="100000">
              <a:schemeClr val="accent1">
                <a:alpha val="90000"/>
                <a:hueOff val="0"/>
                <a:satOff val="0"/>
                <a:lumOff val="0"/>
                <a:alphaOff val="-1500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Primary Energy Consumption</a:t>
          </a:r>
          <a:endParaRPr lang="en-IN" sz="1400" kern="1200" dirty="0"/>
        </a:p>
      </dsp:txBody>
      <dsp:txXfrm>
        <a:off x="3371001" y="525232"/>
        <a:ext cx="1613608" cy="629672"/>
      </dsp:txXfrm>
    </dsp:sp>
    <dsp:sp modelId="{5EF3292E-22C5-4427-A9A1-C57F66C5E671}">
      <dsp:nvSpPr>
        <dsp:cNvPr id="0" name=""/>
        <dsp:cNvSpPr/>
      </dsp:nvSpPr>
      <dsp:spPr>
        <a:xfrm>
          <a:off x="252572" y="1259849"/>
          <a:ext cx="1049453" cy="629672"/>
        </a:xfrm>
        <a:prstGeom prst="rect">
          <a:avLst/>
        </a:prstGeom>
        <a:gradFill rotWithShape="0">
          <a:gsLst>
            <a:gs pos="0">
              <a:schemeClr val="accent1">
                <a:alpha val="90000"/>
                <a:hueOff val="0"/>
                <a:satOff val="0"/>
                <a:lumOff val="0"/>
                <a:alphaOff val="-20000"/>
                <a:tint val="100000"/>
                <a:shade val="100000"/>
                <a:satMod val="130000"/>
              </a:schemeClr>
            </a:gs>
            <a:gs pos="100000">
              <a:schemeClr val="accent1">
                <a:alpha val="90000"/>
                <a:hueOff val="0"/>
                <a:satOff val="0"/>
                <a:lumOff val="0"/>
                <a:alphaOff val="-2000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CO2 Emission</a:t>
          </a:r>
          <a:endParaRPr lang="en-IN" sz="1400" kern="1200" dirty="0"/>
        </a:p>
      </dsp:txBody>
      <dsp:txXfrm>
        <a:off x="252572" y="1259849"/>
        <a:ext cx="1049453" cy="629672"/>
      </dsp:txXfrm>
    </dsp:sp>
    <dsp:sp modelId="{F707F0F1-76C5-4202-B010-4DD4158941EF}">
      <dsp:nvSpPr>
        <dsp:cNvPr id="0" name=""/>
        <dsp:cNvSpPr/>
      </dsp:nvSpPr>
      <dsp:spPr>
        <a:xfrm>
          <a:off x="1406970" y="1259849"/>
          <a:ext cx="1603533" cy="629672"/>
        </a:xfrm>
        <a:prstGeom prst="rect">
          <a:avLst/>
        </a:prstGeom>
        <a:gradFill rotWithShape="0">
          <a:gsLst>
            <a:gs pos="0">
              <a:schemeClr val="accent1">
                <a:alpha val="90000"/>
                <a:hueOff val="0"/>
                <a:satOff val="0"/>
                <a:lumOff val="0"/>
                <a:alphaOff val="-25000"/>
                <a:tint val="100000"/>
                <a:shade val="100000"/>
                <a:satMod val="130000"/>
              </a:schemeClr>
            </a:gs>
            <a:gs pos="100000">
              <a:schemeClr val="accent1">
                <a:alpha val="90000"/>
                <a:hueOff val="0"/>
                <a:satOff val="0"/>
                <a:lumOff val="0"/>
                <a:alphaOff val="-2500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CO2 Per Capita</a:t>
          </a:r>
          <a:endParaRPr lang="en-IN" sz="1400" kern="1200" dirty="0"/>
        </a:p>
      </dsp:txBody>
      <dsp:txXfrm>
        <a:off x="1406970" y="1259849"/>
        <a:ext cx="1603533" cy="629672"/>
      </dsp:txXfrm>
    </dsp:sp>
    <dsp:sp modelId="{EBA429E7-8B01-4284-8898-CF937260C92D}">
      <dsp:nvSpPr>
        <dsp:cNvPr id="0" name=""/>
        <dsp:cNvSpPr/>
      </dsp:nvSpPr>
      <dsp:spPr>
        <a:xfrm>
          <a:off x="3115449" y="1259849"/>
          <a:ext cx="1618708" cy="629672"/>
        </a:xfrm>
        <a:prstGeom prst="rect">
          <a:avLst/>
        </a:prstGeom>
        <a:gradFill rotWithShape="0">
          <a:gsLst>
            <a:gs pos="0">
              <a:schemeClr val="accent1">
                <a:alpha val="90000"/>
                <a:hueOff val="0"/>
                <a:satOff val="0"/>
                <a:lumOff val="0"/>
                <a:alphaOff val="-30000"/>
                <a:tint val="100000"/>
                <a:shade val="100000"/>
                <a:satMod val="130000"/>
              </a:schemeClr>
            </a:gs>
            <a:gs pos="100000">
              <a:schemeClr val="accent1">
                <a:alpha val="90000"/>
                <a:hueOff val="0"/>
                <a:satOff val="0"/>
                <a:lumOff val="0"/>
                <a:alphaOff val="-3000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Carbon Intensity Electricity</a:t>
          </a:r>
          <a:endParaRPr lang="en-IN" sz="1400" kern="1200" dirty="0"/>
        </a:p>
      </dsp:txBody>
      <dsp:txXfrm>
        <a:off x="3115449" y="1259849"/>
        <a:ext cx="1618708" cy="629672"/>
      </dsp:txXfrm>
    </dsp:sp>
    <dsp:sp modelId="{F772D7D7-6564-425E-9428-A4506D9897C5}">
      <dsp:nvSpPr>
        <dsp:cNvPr id="0" name=""/>
        <dsp:cNvSpPr/>
      </dsp:nvSpPr>
      <dsp:spPr>
        <a:xfrm>
          <a:off x="885313" y="1994466"/>
          <a:ext cx="1319089" cy="629672"/>
        </a:xfrm>
        <a:prstGeom prst="rect">
          <a:avLst/>
        </a:prstGeom>
        <a:gradFill rotWithShape="0">
          <a:gsLst>
            <a:gs pos="0">
              <a:schemeClr val="accent1">
                <a:alpha val="90000"/>
                <a:hueOff val="0"/>
                <a:satOff val="0"/>
                <a:lumOff val="0"/>
                <a:alphaOff val="-35000"/>
                <a:tint val="100000"/>
                <a:shade val="100000"/>
                <a:satMod val="130000"/>
              </a:schemeClr>
            </a:gs>
            <a:gs pos="100000">
              <a:schemeClr val="accent1">
                <a:alpha val="90000"/>
                <a:hueOff val="0"/>
                <a:satOff val="0"/>
                <a:lumOff val="0"/>
                <a:alphaOff val="-3500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Greenhouse Gas Emissions</a:t>
          </a:r>
          <a:endParaRPr lang="en-IN" sz="1400" kern="1200" dirty="0"/>
        </a:p>
      </dsp:txBody>
      <dsp:txXfrm>
        <a:off x="885313" y="1994466"/>
        <a:ext cx="1319089" cy="629672"/>
      </dsp:txXfrm>
    </dsp:sp>
    <dsp:sp modelId="{56AEB0EE-259E-4D44-9FC2-5239A2E489E2}">
      <dsp:nvSpPr>
        <dsp:cNvPr id="0" name=""/>
        <dsp:cNvSpPr/>
      </dsp:nvSpPr>
      <dsp:spPr>
        <a:xfrm>
          <a:off x="2309348" y="1994466"/>
          <a:ext cx="1792067" cy="629672"/>
        </a:xfrm>
        <a:prstGeom prst="rect">
          <a:avLst/>
        </a:prstGeom>
        <a:gradFill rotWithShape="0">
          <a:gsLst>
            <a:gs pos="0">
              <a:schemeClr val="accent1">
                <a:alpha val="90000"/>
                <a:hueOff val="0"/>
                <a:satOff val="0"/>
                <a:lumOff val="0"/>
                <a:alphaOff val="-40000"/>
                <a:tint val="100000"/>
                <a:shade val="100000"/>
                <a:satMod val="130000"/>
              </a:schemeClr>
            </a:gs>
            <a:gs pos="100000">
              <a:schemeClr val="accent1">
                <a:alpha val="90000"/>
                <a:hueOff val="0"/>
                <a:satOff val="0"/>
                <a:lumOff val="0"/>
                <a:alphaOff val="-4000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Temperature Change Contribution</a:t>
          </a:r>
          <a:endParaRPr lang="en-IN" sz="1400" kern="1200" dirty="0"/>
        </a:p>
      </dsp:txBody>
      <dsp:txXfrm>
        <a:off x="2309348" y="1994466"/>
        <a:ext cx="1792067" cy="62967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ase slide" type="title">
  <p:cSld name="TITLE">
    <p:spTree>
      <p:nvGrpSpPr>
        <p:cNvPr id="1" name="Shape 11"/>
        <p:cNvGrpSpPr/>
        <p:nvPr/>
      </p:nvGrpSpPr>
      <p:grpSpPr>
        <a:xfrm>
          <a:off x="0" y="0"/>
          <a:ext cx="0" cy="0"/>
          <a:chOff x="0" y="0"/>
          <a:chExt cx="0" cy="0"/>
        </a:xfrm>
      </p:grpSpPr>
      <p:sp>
        <p:nvSpPr>
          <p:cNvPr id="12" name="Google Shape;12;p30"/>
          <p:cNvSpPr txBox="1">
            <a:spLocks noGrp="1"/>
          </p:cNvSpPr>
          <p:nvPr>
            <p:ph type="sldNum" idx="12"/>
          </p:nvPr>
        </p:nvSpPr>
        <p:spPr>
          <a:xfrm>
            <a:off x="4458411" y="4905375"/>
            <a:ext cx="222417" cy="379591"/>
          </a:xfrm>
          <a:prstGeom prst="rect">
            <a:avLst/>
          </a:prstGeom>
          <a:noFill/>
          <a:ln>
            <a:noFill/>
          </a:ln>
        </p:spPr>
        <p:txBody>
          <a:bodyPr spcFirstLastPara="1" wrap="square" lIns="50800" tIns="50800" rIns="50800" bIns="50800" anchor="t" anchorCtr="0">
            <a:spAutoFit/>
          </a:bodyPr>
          <a:lstStyle>
            <a:lvl1pPr marL="0" marR="0" lvl="0"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1200"/>
              <a:buFont typeface="Arial"/>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blank">
  <p:cSld name="title, blank">
    <p:spTree>
      <p:nvGrpSpPr>
        <p:cNvPr id="1" name="Shape 19"/>
        <p:cNvGrpSpPr/>
        <p:nvPr/>
      </p:nvGrpSpPr>
      <p:grpSpPr>
        <a:xfrm>
          <a:off x="0" y="0"/>
          <a:ext cx="0" cy="0"/>
          <a:chOff x="0" y="0"/>
          <a:chExt cx="0" cy="0"/>
        </a:xfrm>
      </p:grpSpPr>
      <p:sp>
        <p:nvSpPr>
          <p:cNvPr id="20" name="Google Shape;20;p35"/>
          <p:cNvSpPr txBox="1">
            <a:spLocks noGrp="1"/>
          </p:cNvSpPr>
          <p:nvPr>
            <p:ph type="title"/>
          </p:nvPr>
        </p:nvSpPr>
        <p:spPr>
          <a:xfrm>
            <a:off x="210312" y="201168"/>
            <a:ext cx="4142232" cy="20774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 name="Google Shape;21;p35"/>
          <p:cNvSpPr txBox="1">
            <a:spLocks noGrp="1"/>
          </p:cNvSpPr>
          <p:nvPr>
            <p:ph type="ftr" idx="11"/>
          </p:nvPr>
        </p:nvSpPr>
        <p:spPr>
          <a:xfrm>
            <a:off x="3108960" y="4783455"/>
            <a:ext cx="2926080" cy="415499"/>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 name="Google Shape;22;p35"/>
          <p:cNvSpPr txBox="1">
            <a:spLocks noGrp="1"/>
          </p:cNvSpPr>
          <p:nvPr>
            <p:ph type="sldNum" idx="12"/>
          </p:nvPr>
        </p:nvSpPr>
        <p:spPr>
          <a:xfrm>
            <a:off x="6583680" y="4783455"/>
            <a:ext cx="2103120" cy="207749"/>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3"/>
        <p:cNvGrpSpPr/>
        <p:nvPr/>
      </p:nvGrpSpPr>
      <p:grpSpPr>
        <a:xfrm>
          <a:off x="0" y="0"/>
          <a:ext cx="0" cy="0"/>
          <a:chOff x="0" y="0"/>
          <a:chExt cx="0" cy="0"/>
        </a:xfrm>
      </p:grpSpPr>
      <p:sp>
        <p:nvSpPr>
          <p:cNvPr id="24" name="Google Shape;24;p36"/>
          <p:cNvSpPr txBox="1">
            <a:spLocks noGrp="1"/>
          </p:cNvSpPr>
          <p:nvPr>
            <p:ph type="title"/>
          </p:nvPr>
        </p:nvSpPr>
        <p:spPr>
          <a:xfrm>
            <a:off x="320765" y="231413"/>
            <a:ext cx="4682490" cy="33909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sz="2100" b="1" i="0">
                <a:solidFill>
                  <a:srgbClr val="0043CE"/>
                </a:solidFill>
                <a:latin typeface="Tahoma"/>
                <a:ea typeface="Tahoma"/>
                <a:cs typeface="Tahoma"/>
                <a:sym typeface="Tahoma"/>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 name="Google Shape;25;p36"/>
          <p:cNvSpPr txBox="1">
            <a:spLocks noGrp="1"/>
          </p:cNvSpPr>
          <p:nvPr>
            <p:ph type="body" idx="1"/>
          </p:nvPr>
        </p:nvSpPr>
        <p:spPr>
          <a:xfrm>
            <a:off x="457200" y="1183005"/>
            <a:ext cx="3977640" cy="339471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100"/>
              <a:buNone/>
              <a:defRPr/>
            </a:lvl1pPr>
            <a:lvl2pPr marL="914400" lvl="1" indent="-228600" algn="l">
              <a:lnSpc>
                <a:spcPct val="100000"/>
              </a:lnSpc>
              <a:spcBef>
                <a:spcPts val="0"/>
              </a:spcBef>
              <a:spcAft>
                <a:spcPts val="0"/>
              </a:spcAft>
              <a:buSzPts val="1100"/>
              <a:buNone/>
              <a:defRPr/>
            </a:lvl2pPr>
            <a:lvl3pPr marL="1371600" lvl="2" indent="-228600" algn="l">
              <a:lnSpc>
                <a:spcPct val="100000"/>
              </a:lnSpc>
              <a:spcBef>
                <a:spcPts val="0"/>
              </a:spcBef>
              <a:spcAft>
                <a:spcPts val="0"/>
              </a:spcAft>
              <a:buSzPts val="1100"/>
              <a:buNone/>
              <a:defRPr/>
            </a:lvl3pPr>
            <a:lvl4pPr marL="1828800" lvl="3" indent="-228600" algn="l">
              <a:lnSpc>
                <a:spcPct val="100000"/>
              </a:lnSpc>
              <a:spcBef>
                <a:spcPts val="0"/>
              </a:spcBef>
              <a:spcAft>
                <a:spcPts val="0"/>
              </a:spcAft>
              <a:buSzPts val="1100"/>
              <a:buNone/>
              <a:defRPr/>
            </a:lvl4pPr>
            <a:lvl5pPr marL="2286000" lvl="4" indent="-228600" algn="l">
              <a:lnSpc>
                <a:spcPct val="100000"/>
              </a:lnSpc>
              <a:spcBef>
                <a:spcPts val="0"/>
              </a:spcBef>
              <a:spcAft>
                <a:spcPts val="0"/>
              </a:spcAft>
              <a:buSzPts val="1100"/>
              <a:buNone/>
              <a:defRPr/>
            </a:lvl5pPr>
            <a:lvl6pPr marL="2743200" lvl="5" indent="-228600" algn="l">
              <a:lnSpc>
                <a:spcPct val="100000"/>
              </a:lnSpc>
              <a:spcBef>
                <a:spcPts val="0"/>
              </a:spcBef>
              <a:spcAft>
                <a:spcPts val="0"/>
              </a:spcAft>
              <a:buSzPts val="1100"/>
              <a:buNone/>
              <a:defRPr/>
            </a:lvl6pPr>
            <a:lvl7pPr marL="3200400" lvl="6" indent="-228600" algn="l">
              <a:lnSpc>
                <a:spcPct val="100000"/>
              </a:lnSpc>
              <a:spcBef>
                <a:spcPts val="0"/>
              </a:spcBef>
              <a:spcAft>
                <a:spcPts val="0"/>
              </a:spcAft>
              <a:buSzPts val="1100"/>
              <a:buNone/>
              <a:defRPr/>
            </a:lvl7pPr>
            <a:lvl8pPr marL="3657600" lvl="7" indent="-228600" algn="l">
              <a:lnSpc>
                <a:spcPct val="100000"/>
              </a:lnSpc>
              <a:spcBef>
                <a:spcPts val="0"/>
              </a:spcBef>
              <a:spcAft>
                <a:spcPts val="0"/>
              </a:spcAft>
              <a:buSzPts val="1100"/>
              <a:buNone/>
              <a:defRPr/>
            </a:lvl8pPr>
            <a:lvl9pPr marL="4114800" lvl="8" indent="-228600" algn="l">
              <a:lnSpc>
                <a:spcPct val="100000"/>
              </a:lnSpc>
              <a:spcBef>
                <a:spcPts val="0"/>
              </a:spcBef>
              <a:spcAft>
                <a:spcPts val="0"/>
              </a:spcAft>
              <a:buSzPts val="1100"/>
              <a:buNone/>
              <a:defRPr/>
            </a:lvl9pPr>
          </a:lstStyle>
          <a:p>
            <a:endParaRPr/>
          </a:p>
        </p:txBody>
      </p:sp>
      <p:sp>
        <p:nvSpPr>
          <p:cNvPr id="26" name="Google Shape;26;p36"/>
          <p:cNvSpPr txBox="1">
            <a:spLocks noGrp="1"/>
          </p:cNvSpPr>
          <p:nvPr>
            <p:ph type="body" idx="2"/>
          </p:nvPr>
        </p:nvSpPr>
        <p:spPr>
          <a:xfrm>
            <a:off x="4709160" y="1183005"/>
            <a:ext cx="3977640" cy="339471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100"/>
              <a:buNone/>
              <a:defRPr/>
            </a:lvl1pPr>
            <a:lvl2pPr marL="914400" lvl="1" indent="-228600" algn="l">
              <a:lnSpc>
                <a:spcPct val="100000"/>
              </a:lnSpc>
              <a:spcBef>
                <a:spcPts val="0"/>
              </a:spcBef>
              <a:spcAft>
                <a:spcPts val="0"/>
              </a:spcAft>
              <a:buSzPts val="1100"/>
              <a:buNone/>
              <a:defRPr/>
            </a:lvl2pPr>
            <a:lvl3pPr marL="1371600" lvl="2" indent="-228600" algn="l">
              <a:lnSpc>
                <a:spcPct val="100000"/>
              </a:lnSpc>
              <a:spcBef>
                <a:spcPts val="0"/>
              </a:spcBef>
              <a:spcAft>
                <a:spcPts val="0"/>
              </a:spcAft>
              <a:buSzPts val="1100"/>
              <a:buNone/>
              <a:defRPr/>
            </a:lvl3pPr>
            <a:lvl4pPr marL="1828800" lvl="3" indent="-228600" algn="l">
              <a:lnSpc>
                <a:spcPct val="100000"/>
              </a:lnSpc>
              <a:spcBef>
                <a:spcPts val="0"/>
              </a:spcBef>
              <a:spcAft>
                <a:spcPts val="0"/>
              </a:spcAft>
              <a:buSzPts val="1100"/>
              <a:buNone/>
              <a:defRPr/>
            </a:lvl4pPr>
            <a:lvl5pPr marL="2286000" lvl="4" indent="-228600" algn="l">
              <a:lnSpc>
                <a:spcPct val="100000"/>
              </a:lnSpc>
              <a:spcBef>
                <a:spcPts val="0"/>
              </a:spcBef>
              <a:spcAft>
                <a:spcPts val="0"/>
              </a:spcAft>
              <a:buSzPts val="1100"/>
              <a:buNone/>
              <a:defRPr/>
            </a:lvl5pPr>
            <a:lvl6pPr marL="2743200" lvl="5" indent="-228600" algn="l">
              <a:lnSpc>
                <a:spcPct val="100000"/>
              </a:lnSpc>
              <a:spcBef>
                <a:spcPts val="0"/>
              </a:spcBef>
              <a:spcAft>
                <a:spcPts val="0"/>
              </a:spcAft>
              <a:buSzPts val="1100"/>
              <a:buNone/>
              <a:defRPr/>
            </a:lvl6pPr>
            <a:lvl7pPr marL="3200400" lvl="6" indent="-228600" algn="l">
              <a:lnSpc>
                <a:spcPct val="100000"/>
              </a:lnSpc>
              <a:spcBef>
                <a:spcPts val="0"/>
              </a:spcBef>
              <a:spcAft>
                <a:spcPts val="0"/>
              </a:spcAft>
              <a:buSzPts val="1100"/>
              <a:buNone/>
              <a:defRPr/>
            </a:lvl7pPr>
            <a:lvl8pPr marL="3657600" lvl="7" indent="-228600" algn="l">
              <a:lnSpc>
                <a:spcPct val="100000"/>
              </a:lnSpc>
              <a:spcBef>
                <a:spcPts val="0"/>
              </a:spcBef>
              <a:spcAft>
                <a:spcPts val="0"/>
              </a:spcAft>
              <a:buSzPts val="1100"/>
              <a:buNone/>
              <a:defRPr/>
            </a:lvl8pPr>
            <a:lvl9pPr marL="4114800" lvl="8" indent="-228600" algn="l">
              <a:lnSpc>
                <a:spcPct val="100000"/>
              </a:lnSpc>
              <a:spcBef>
                <a:spcPts val="0"/>
              </a:spcBef>
              <a:spcAft>
                <a:spcPts val="0"/>
              </a:spcAft>
              <a:buSzPts val="1100"/>
              <a:buNone/>
              <a:defRPr/>
            </a:lvl9pPr>
          </a:lstStyle>
          <a:p>
            <a:endParaRPr/>
          </a:p>
        </p:txBody>
      </p:sp>
      <p:sp>
        <p:nvSpPr>
          <p:cNvPr id="27" name="Google Shape;27;p36"/>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8" name="Google Shape;28;p3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9" name="Google Shape;29;p36"/>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9"/>
          <p:cNvSpPr txBox="1">
            <a:spLocks noGrp="1"/>
          </p:cNvSpPr>
          <p:nvPr>
            <p:ph type="title"/>
          </p:nvPr>
        </p:nvSpPr>
        <p:spPr>
          <a:xfrm>
            <a:off x="320765" y="231413"/>
            <a:ext cx="4682490" cy="33909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100"/>
              <a:buFont typeface="Arial"/>
              <a:buNone/>
              <a:defRPr sz="2100" b="1" i="0" u="none" strike="noStrike" cap="none">
                <a:solidFill>
                  <a:srgbClr val="0043CE"/>
                </a:solidFill>
                <a:latin typeface="Tahoma"/>
                <a:ea typeface="Tahoma"/>
                <a:cs typeface="Tahoma"/>
                <a:sym typeface="Tahoma"/>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29"/>
          <p:cNvSpPr txBox="1">
            <a:spLocks noGrp="1"/>
          </p:cNvSpPr>
          <p:nvPr>
            <p:ph type="body" idx="1"/>
          </p:nvPr>
        </p:nvSpPr>
        <p:spPr>
          <a:xfrm>
            <a:off x="457200" y="1183005"/>
            <a:ext cx="8229600" cy="339471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Calibri"/>
                <a:ea typeface="Calibri"/>
                <a:cs typeface="Calibri"/>
                <a:sym typeface="Calibri"/>
              </a:defRPr>
            </a:lvl9pPr>
          </a:lstStyle>
          <a:p>
            <a:endParaRPr/>
          </a:p>
        </p:txBody>
      </p:sp>
      <p:sp>
        <p:nvSpPr>
          <p:cNvPr id="8" name="Google Shape;8;p29"/>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9" name="Google Shape;9;p29"/>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 name="Google Shape;10;p29"/>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diagramColors" Target="../diagrams/colors1.xml"/><Relationship Id="rId3" Type="http://schemas.openxmlformats.org/officeDocument/2006/relationships/image" Target="../media/image5.png"/><Relationship Id="rId7" Type="http://schemas.openxmlformats.org/officeDocument/2006/relationships/image" Target="../media/image10.svg"/><Relationship Id="rId12" Type="http://schemas.openxmlformats.org/officeDocument/2006/relationships/diagramQuickStyle" Target="../diagrams/quickStyle1.xml"/><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9.svg"/><Relationship Id="rId11" Type="http://schemas.openxmlformats.org/officeDocument/2006/relationships/diagramLayout" Target="../diagrams/layout1.xml"/><Relationship Id="rId5" Type="http://schemas.openxmlformats.org/officeDocument/2006/relationships/image" Target="../media/image8.svg"/><Relationship Id="rId10" Type="http://schemas.openxmlformats.org/officeDocument/2006/relationships/diagramData" Target="../diagrams/data1.xml"/><Relationship Id="rId4" Type="http://schemas.openxmlformats.org/officeDocument/2006/relationships/image" Target="../media/image7.png"/><Relationship Id="rId9" Type="http://schemas.openxmlformats.org/officeDocument/2006/relationships/image" Target="../media/image12.svg"/><Relationship Id="rId14" Type="http://schemas.microsoft.com/office/2007/relationships/diagramDrawing" Target="../diagrams/drawing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public.tableau.com/app/profile/shreya.mishra1905/viz/Global_Energy_Transition_Dashboard/GlobalEnergyTransitionDashboard?publish=yes" TargetMode="Externa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0"/>
            <a:ext cx="9144000" cy="5142215"/>
          </a:xfrm>
          <a:prstGeom prst="rect">
            <a:avLst/>
          </a:prstGeom>
        </p:spPr>
      </p:pic>
      <p:sp>
        <p:nvSpPr>
          <p:cNvPr id="20" name="Eyebrow"/>
          <p:cNvSpPr txBox="1"/>
          <p:nvPr/>
        </p:nvSpPr>
        <p:spPr>
          <a:xfrm>
            <a:off x="349624" y="1035000"/>
            <a:ext cx="6979023" cy="307777"/>
          </a:xfrm>
          <a:prstGeom prst="rect">
            <a:avLst/>
          </a:prstGeom>
          <a:noFill/>
        </p:spPr>
        <p:txBody>
          <a:bodyPr wrap="square" rtlCol="0">
            <a:spAutoFit/>
          </a:bodyPr>
          <a:lstStyle/>
          <a:p>
            <a:r>
              <a:rPr lang="en-IN" sz="1400" spc="200" dirty="0">
                <a:solidFill>
                  <a:srgbClr val="F2994A"/>
                </a:solidFill>
                <a:latin typeface="IBM Plex Sans" panose="020B0503050203000203" pitchFamily="34" charset="0"/>
              </a:rPr>
              <a:t>FINAL PROJECT PRESENTATION</a:t>
            </a:r>
          </a:p>
        </p:txBody>
      </p:sp>
      <p:sp>
        <p:nvSpPr>
          <p:cNvPr id="8" name="TextBox 7"/>
          <p:cNvSpPr txBox="1"/>
          <p:nvPr/>
        </p:nvSpPr>
        <p:spPr>
          <a:xfrm>
            <a:off x="349624" y="1330000"/>
            <a:ext cx="8250000" cy="954107"/>
          </a:xfrm>
          <a:prstGeom prst="rect">
            <a:avLst/>
          </a:prstGeom>
          <a:noFill/>
        </p:spPr>
        <p:txBody>
          <a:bodyPr wrap="square" rtlCol="0">
            <a:spAutoFit/>
          </a:bodyPr>
          <a:lstStyle/>
          <a:p>
            <a:r>
              <a:rPr lang="en-IN" sz="2800" b="1" dirty="0">
                <a:solidFill>
                  <a:schemeClr val="bg1"/>
                </a:solidFill>
                <a:latin typeface="IBM Plex Sans" panose="020B0503050203000203" pitchFamily="34" charset="0"/>
              </a:rPr>
              <a:t>Global Energy Transition &amp; Climate Impact Dashboard</a:t>
            </a:r>
            <a:endParaRPr lang="en-IN" sz="2800" b="1" dirty="0">
              <a:solidFill>
                <a:schemeClr val="bg1"/>
              </a:solidFill>
              <a:latin typeface="IBM Plex Sans" panose="020B0503050203000203" pitchFamily="34" charset="0"/>
              <a:cs typeface="Arial" panose="020B0604020202020204" pitchFamily="34" charset="0"/>
            </a:endParaRPr>
          </a:p>
        </p:txBody>
      </p:sp>
      <p:cxnSp>
        <p:nvCxnSpPr>
          <p:cNvPr id="10" name="Straight Connector 9"/>
          <p:cNvCxnSpPr>
            <a:cxnSpLocks/>
          </p:cNvCxnSpPr>
          <p:nvPr/>
        </p:nvCxnSpPr>
        <p:spPr>
          <a:xfrm>
            <a:off x="349624" y="3110000"/>
            <a:ext cx="6200000" cy="0"/>
          </a:xfrm>
          <a:prstGeom prst="line">
            <a:avLst/>
          </a:prstGeom>
          <a:ln>
            <a:solidFill>
              <a:srgbClr val="F2994A"/>
            </a:solidFill>
          </a:ln>
        </p:spPr>
        <p:style>
          <a:lnRef idx="1">
            <a:schemeClr val="dk1"/>
          </a:lnRef>
          <a:fillRef idx="0">
            <a:schemeClr val="dk1"/>
          </a:fillRef>
          <a:effectRef idx="0">
            <a:schemeClr val="dk1"/>
          </a:effectRef>
          <a:fontRef idx="minor">
            <a:schemeClr val="tx1"/>
          </a:fontRef>
        </p:style>
      </p:cxnSp>
      <p:sp>
        <p:nvSpPr>
          <p:cNvPr id="11" name="TextBox 10"/>
          <p:cNvSpPr txBox="1"/>
          <p:nvPr/>
        </p:nvSpPr>
        <p:spPr>
          <a:xfrm>
            <a:off x="349624" y="3230000"/>
            <a:ext cx="7714156" cy="292388"/>
          </a:xfrm>
          <a:prstGeom prst="rect">
            <a:avLst/>
          </a:prstGeom>
          <a:noFill/>
        </p:spPr>
        <p:txBody>
          <a:bodyPr wrap="square" rtlCol="0">
            <a:spAutoFit/>
          </a:bodyPr>
          <a:lstStyle/>
          <a:p>
            <a:r>
              <a:rPr lang="en-IN" sz="1300" dirty="0">
                <a:solidFill>
                  <a:schemeClr val="bg1"/>
                </a:solidFill>
                <a:latin typeface="IBM Plex Sans" panose="020B0503050203000203" pitchFamily="34" charset="0"/>
              </a:rPr>
              <a:t>An Interactive Data Visualization Dashboard using Our World in Data (OWID) Energy &amp; CO₂ Datasets</a:t>
            </a:r>
            <a:endParaRPr lang="en-US" sz="1300" dirty="0">
              <a:solidFill>
                <a:schemeClr val="bg1"/>
              </a:solidFill>
              <a:latin typeface="IBM Plex Sans" panose="020B0503050203000203" pitchFamily="34" charset="0"/>
              <a:cs typeface="Arial" panose="020B0604020202020204" pitchFamily="34" charset="0"/>
            </a:endParaRPr>
          </a:p>
        </p:txBody>
      </p:sp>
      <p:sp>
        <p:nvSpPr>
          <p:cNvPr id="12" name="TextBox 11"/>
          <p:cNvSpPr txBox="1"/>
          <p:nvPr/>
        </p:nvSpPr>
        <p:spPr>
          <a:xfrm>
            <a:off x="349624" y="4630000"/>
            <a:ext cx="7714156" cy="261610"/>
          </a:xfrm>
          <a:prstGeom prst="rect">
            <a:avLst/>
          </a:prstGeom>
          <a:noFill/>
        </p:spPr>
        <p:txBody>
          <a:bodyPr wrap="square" rtlCol="0">
            <a:spAutoFit/>
          </a:bodyPr>
          <a:lstStyle/>
          <a:p>
            <a:r>
              <a:rPr lang="en-US" sz="1100" dirty="0">
                <a:solidFill>
                  <a:schemeClr val="bg1"/>
                </a:solidFill>
                <a:latin typeface="IBM Plex Sans" panose="020B0503050203000203" pitchFamily="34" charset="0"/>
                <a:cs typeface="Arial" panose="020B0604020202020204" pitchFamily="34" charset="0"/>
              </a:rPr>
              <a:t>Presented by: Shreya Mishra  |  </a:t>
            </a:r>
            <a:r>
              <a:rPr lang="en-US" sz="1100" dirty="0" err="1">
                <a:solidFill>
                  <a:schemeClr val="bg1"/>
                </a:solidFill>
                <a:latin typeface="IBM Plex Sans" panose="020B0503050203000203" pitchFamily="34" charset="0"/>
                <a:cs typeface="Arial" panose="020B0604020202020204" pitchFamily="34" charset="0"/>
              </a:rPr>
              <a:t>B.Tech</a:t>
            </a:r>
            <a:r>
              <a:rPr lang="en-US" sz="1100" dirty="0">
                <a:solidFill>
                  <a:schemeClr val="bg1"/>
                </a:solidFill>
                <a:latin typeface="IBM Plex Sans" panose="020B0503050203000203" pitchFamily="34" charset="0"/>
                <a:cs typeface="Arial" panose="020B0604020202020204" pitchFamily="34" charset="0"/>
              </a:rPr>
              <a:t>- CSE(DS)  |  Ajay Kumar Garg Engineering College</a:t>
            </a:r>
          </a:p>
        </p:txBody>
      </p:sp>
      <p:pic>
        <p:nvPicPr>
          <p:cNvPr id="4" name="Picture 3"/>
          <p:cNvPicPr>
            <a:picLocks noChangeAspect="1"/>
          </p:cNvPicPr>
          <p:nvPr/>
        </p:nvPicPr>
        <p:blipFill>
          <a:blip r:embed="rId3"/>
          <a:stretch>
            <a:fillRect/>
          </a:stretch>
        </p:blipFill>
        <p:spPr>
          <a:xfrm>
            <a:off x="474654" y="195710"/>
            <a:ext cx="1797900" cy="701493"/>
          </a:xfrm>
          <a:prstGeom prst="rect">
            <a:avLst/>
          </a:prstGeom>
        </p:spPr>
      </p:pic>
      <p:pic>
        <p:nvPicPr>
          <p:cNvPr id="5" name="Picture 4"/>
          <p:cNvPicPr>
            <a:picLocks noChangeAspect="1"/>
          </p:cNvPicPr>
          <p:nvPr/>
        </p:nvPicPr>
        <p:blipFill>
          <a:blip r:embed="rId4"/>
          <a:stretch>
            <a:fillRect/>
          </a:stretch>
        </p:blipFill>
        <p:spPr>
          <a:xfrm>
            <a:off x="7978488" y="165591"/>
            <a:ext cx="796529" cy="7050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p:cNvSpPr txBox="1"/>
          <p:nvPr/>
        </p:nvSpPr>
        <p:spPr>
          <a:xfrm>
            <a:off x="368983" y="640000"/>
            <a:ext cx="6000000" cy="523220"/>
          </a:xfrm>
          <a:prstGeom prst="rect">
            <a:avLst/>
          </a:prstGeom>
          <a:noFill/>
        </p:spPr>
        <p:txBody>
          <a:bodyPr wrap="square" rtlCol="0">
            <a:spAutoFit/>
          </a:bodyPr>
          <a:lstStyle/>
          <a:p>
            <a:r>
              <a:rPr lang="en-IN" sz="2800" b="1" dirty="0">
                <a:solidFill>
                  <a:srgbClr val="008000"/>
                </a:solidFill>
                <a:latin typeface="IBM Plex Sans" panose="020B0503050203000203" pitchFamily="34" charset="0"/>
              </a:rPr>
              <a:t>What We’ll Cover</a:t>
            </a:r>
          </a:p>
        </p:txBody>
      </p:sp>
      <p:sp>
        <p:nvSpPr>
          <p:cNvPr id="9" name="Subtitle"/>
          <p:cNvSpPr txBox="1"/>
          <p:nvPr/>
        </p:nvSpPr>
        <p:spPr>
          <a:xfrm>
            <a:off x="368983" y="1130000"/>
            <a:ext cx="7500000" cy="276999"/>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Agenda for today’s final project presentation</a:t>
            </a:r>
          </a:p>
        </p:txBody>
      </p:sp>
      <p:sp>
        <p:nvSpPr>
          <p:cNvPr id="100" name="NumCircle0"/>
          <p:cNvSpPr/>
          <p:nvPr/>
        </p:nvSpPr>
        <p:spPr>
          <a:xfrm>
            <a:off x="400000" y="1500000"/>
            <a:ext cx="420000" cy="420000"/>
          </a:xfrm>
          <a:prstGeom prst="ellipse">
            <a:avLst/>
          </a:prstGeom>
          <a:solidFill>
            <a:schemeClr val="accent1">
              <a:lumMod val="75000"/>
            </a:schemeClr>
          </a:solidFill>
          <a:ln>
            <a:noFill/>
          </a:ln>
        </p:spPr>
        <p:txBody>
          <a:bodyPr lIns="0" tIns="0" rIns="0" bIns="0" anchor="ctr"/>
          <a:lstStyle/>
          <a:p>
            <a:pPr algn="ctr"/>
            <a:r>
              <a:rPr lang="en-IN" sz="1400" b="1" dirty="0">
                <a:solidFill>
                  <a:schemeClr val="bg1"/>
                </a:solidFill>
                <a:latin typeface="IBM Plex Sans" panose="020B0503050203000203" pitchFamily="34" charset="0"/>
              </a:rPr>
              <a:t>01</a:t>
            </a:r>
          </a:p>
        </p:txBody>
      </p:sp>
      <p:sp>
        <p:nvSpPr>
          <p:cNvPr id="101" name="Label0"/>
          <p:cNvSpPr txBox="1"/>
          <p:nvPr/>
        </p:nvSpPr>
        <p:spPr>
          <a:xfrm>
            <a:off x="920000" y="153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panose="020B0503050203000203" pitchFamily="34" charset="0"/>
              </a:rPr>
              <a:t>Introduction</a:t>
            </a:r>
          </a:p>
        </p:txBody>
      </p:sp>
      <p:sp>
        <p:nvSpPr>
          <p:cNvPr id="102" name="NumCircle1"/>
          <p:cNvSpPr/>
          <p:nvPr/>
        </p:nvSpPr>
        <p:spPr>
          <a:xfrm>
            <a:off x="400000" y="2120000"/>
            <a:ext cx="420000" cy="420000"/>
          </a:xfrm>
          <a:prstGeom prst="ellipse">
            <a:avLst/>
          </a:prstGeom>
          <a:solidFill>
            <a:schemeClr val="accent1">
              <a:lumMod val="75000"/>
            </a:schemeClr>
          </a:solidFill>
          <a:ln>
            <a:noFill/>
          </a:ln>
        </p:spPr>
        <p:txBody>
          <a:bodyPr lIns="0" tIns="0" rIns="0" bIns="0" anchor="ctr"/>
          <a:lstStyle/>
          <a:p>
            <a:pPr algn="ctr"/>
            <a:r>
              <a:rPr lang="en-IN" sz="1400" b="1" dirty="0">
                <a:solidFill>
                  <a:schemeClr val="bg1"/>
                </a:solidFill>
                <a:latin typeface="IBM Plex Sans" panose="020B0503050203000203" pitchFamily="34" charset="0"/>
              </a:rPr>
              <a:t>02</a:t>
            </a:r>
          </a:p>
        </p:txBody>
      </p:sp>
      <p:sp>
        <p:nvSpPr>
          <p:cNvPr id="103" name="Label1"/>
          <p:cNvSpPr txBox="1"/>
          <p:nvPr/>
        </p:nvSpPr>
        <p:spPr>
          <a:xfrm>
            <a:off x="920000" y="2150000"/>
            <a:ext cx="3380000" cy="380000"/>
          </a:xfrm>
          <a:prstGeom prst="rect">
            <a:avLst/>
          </a:prstGeom>
          <a:noFill/>
        </p:spPr>
        <p:txBody>
          <a:bodyPr wrap="square" lIns="0" tIns="0" rIns="0" bIns="0" anchor="ctr">
            <a:normAutofit/>
          </a:bodyPr>
          <a:lstStyle/>
          <a:p>
            <a:r>
              <a:rPr lang="en-IN" b="1" dirty="0">
                <a:solidFill>
                  <a:srgbClr val="1B1E29"/>
                </a:solidFill>
                <a:latin typeface="IBM Plex Sans" panose="020B0503050203000203" pitchFamily="34" charset="0"/>
              </a:rPr>
              <a:t>Problem Statement</a:t>
            </a:r>
          </a:p>
        </p:txBody>
      </p:sp>
      <p:sp>
        <p:nvSpPr>
          <p:cNvPr id="104" name="NumCircle2"/>
          <p:cNvSpPr/>
          <p:nvPr/>
        </p:nvSpPr>
        <p:spPr>
          <a:xfrm>
            <a:off x="400000" y="2740000"/>
            <a:ext cx="420000" cy="420000"/>
          </a:xfrm>
          <a:prstGeom prst="ellipse">
            <a:avLst/>
          </a:prstGeom>
          <a:solidFill>
            <a:schemeClr val="accent1">
              <a:lumMod val="75000"/>
            </a:schemeClr>
          </a:solidFill>
          <a:ln>
            <a:noFill/>
          </a:ln>
        </p:spPr>
        <p:txBody>
          <a:bodyPr lIns="0" tIns="0" rIns="0" bIns="0" anchor="ctr"/>
          <a:lstStyle/>
          <a:p>
            <a:pPr algn="ctr"/>
            <a:r>
              <a:rPr lang="en-IN" sz="1400" b="1" dirty="0">
                <a:solidFill>
                  <a:schemeClr val="bg1"/>
                </a:solidFill>
                <a:latin typeface="IBM Plex Sans" panose="020B0503050203000203" pitchFamily="34" charset="0"/>
              </a:rPr>
              <a:t>03</a:t>
            </a:r>
          </a:p>
        </p:txBody>
      </p:sp>
      <p:sp>
        <p:nvSpPr>
          <p:cNvPr id="105" name="Label2"/>
          <p:cNvSpPr txBox="1"/>
          <p:nvPr/>
        </p:nvSpPr>
        <p:spPr>
          <a:xfrm>
            <a:off x="920000" y="277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panose="020B0503050203000203" pitchFamily="34" charset="0"/>
              </a:rPr>
              <a:t>Project Objectives</a:t>
            </a:r>
          </a:p>
        </p:txBody>
      </p:sp>
      <p:sp>
        <p:nvSpPr>
          <p:cNvPr id="106" name="NumCircle3"/>
          <p:cNvSpPr/>
          <p:nvPr/>
        </p:nvSpPr>
        <p:spPr>
          <a:xfrm>
            <a:off x="400000" y="3360000"/>
            <a:ext cx="420000" cy="420000"/>
          </a:xfrm>
          <a:prstGeom prst="ellipse">
            <a:avLst/>
          </a:prstGeom>
          <a:solidFill>
            <a:schemeClr val="accent1">
              <a:lumMod val="75000"/>
            </a:schemeClr>
          </a:solidFill>
          <a:ln>
            <a:noFill/>
          </a:ln>
        </p:spPr>
        <p:txBody>
          <a:bodyPr lIns="0" tIns="0" rIns="0" bIns="0" anchor="ctr"/>
          <a:lstStyle/>
          <a:p>
            <a:pPr algn="ctr"/>
            <a:r>
              <a:rPr lang="en-IN" sz="1400" b="1" dirty="0">
                <a:solidFill>
                  <a:schemeClr val="bg1"/>
                </a:solidFill>
                <a:latin typeface="IBM Plex Sans" panose="020B0503050203000203" pitchFamily="34" charset="0"/>
              </a:rPr>
              <a:t>04</a:t>
            </a:r>
          </a:p>
        </p:txBody>
      </p:sp>
      <p:sp>
        <p:nvSpPr>
          <p:cNvPr id="107" name="Label3"/>
          <p:cNvSpPr txBox="1"/>
          <p:nvPr/>
        </p:nvSpPr>
        <p:spPr>
          <a:xfrm>
            <a:off x="920000" y="3390000"/>
            <a:ext cx="3380000" cy="380000"/>
          </a:xfrm>
          <a:prstGeom prst="rect">
            <a:avLst/>
          </a:prstGeom>
          <a:noFill/>
        </p:spPr>
        <p:txBody>
          <a:bodyPr wrap="square" lIns="0" tIns="0" rIns="0" bIns="0" anchor="ctr">
            <a:normAutofit/>
          </a:bodyPr>
          <a:lstStyle/>
          <a:p>
            <a:r>
              <a:rPr lang="en-US" sz="1400" b="1" dirty="0">
                <a:solidFill>
                  <a:srgbClr val="1B1E29"/>
                </a:solidFill>
                <a:latin typeface="IBM Plex Sans" panose="020B0503050203000203" pitchFamily="34" charset="0"/>
              </a:rPr>
              <a:t>Dataset Description</a:t>
            </a:r>
            <a:endParaRPr lang="en-IN" sz="1400" b="1" dirty="0">
              <a:solidFill>
                <a:srgbClr val="1B1E29"/>
              </a:solidFill>
              <a:latin typeface="IBM Plex Sans" panose="020B0503050203000203" pitchFamily="34" charset="0"/>
            </a:endParaRPr>
          </a:p>
        </p:txBody>
      </p:sp>
      <p:sp>
        <p:nvSpPr>
          <p:cNvPr id="108" name="NumCircle4"/>
          <p:cNvSpPr/>
          <p:nvPr/>
        </p:nvSpPr>
        <p:spPr>
          <a:xfrm>
            <a:off x="4750000" y="1500000"/>
            <a:ext cx="420000" cy="420000"/>
          </a:xfrm>
          <a:prstGeom prst="ellipse">
            <a:avLst/>
          </a:prstGeom>
          <a:solidFill>
            <a:schemeClr val="accent1">
              <a:lumMod val="75000"/>
            </a:schemeClr>
          </a:solidFill>
          <a:ln>
            <a:noFill/>
          </a:ln>
        </p:spPr>
        <p:txBody>
          <a:bodyPr lIns="0" tIns="0" rIns="0" bIns="0" anchor="ctr"/>
          <a:lstStyle/>
          <a:p>
            <a:pPr algn="ctr"/>
            <a:r>
              <a:rPr lang="en-IN" sz="1400" b="1" dirty="0">
                <a:solidFill>
                  <a:schemeClr val="bg1"/>
                </a:solidFill>
                <a:latin typeface="IBM Plex Sans" panose="020B0503050203000203" pitchFamily="34" charset="0"/>
              </a:rPr>
              <a:t>05</a:t>
            </a:r>
          </a:p>
        </p:txBody>
      </p:sp>
      <p:sp>
        <p:nvSpPr>
          <p:cNvPr id="109" name="Label4"/>
          <p:cNvSpPr txBox="1"/>
          <p:nvPr/>
        </p:nvSpPr>
        <p:spPr>
          <a:xfrm>
            <a:off x="5270000" y="1530000"/>
            <a:ext cx="3380000" cy="380000"/>
          </a:xfrm>
          <a:prstGeom prst="rect">
            <a:avLst/>
          </a:prstGeom>
          <a:noFill/>
        </p:spPr>
        <p:txBody>
          <a:bodyPr wrap="square" lIns="0" tIns="0" rIns="0" bIns="0" anchor="ctr">
            <a:normAutofit/>
          </a:bodyPr>
          <a:lstStyle/>
          <a:p>
            <a:r>
              <a:rPr lang="en-IN" b="1" dirty="0">
                <a:solidFill>
                  <a:srgbClr val="1B1E29"/>
                </a:solidFill>
                <a:latin typeface="IBM Plex Sans" panose="020B0503050203000203" pitchFamily="34" charset="0"/>
              </a:rPr>
              <a:t>Dashboard Features</a:t>
            </a:r>
          </a:p>
        </p:txBody>
      </p:sp>
      <p:sp>
        <p:nvSpPr>
          <p:cNvPr id="110" name="NumCircle5"/>
          <p:cNvSpPr/>
          <p:nvPr/>
        </p:nvSpPr>
        <p:spPr>
          <a:xfrm>
            <a:off x="4750000" y="2120000"/>
            <a:ext cx="420000" cy="420000"/>
          </a:xfrm>
          <a:prstGeom prst="ellipse">
            <a:avLst/>
          </a:prstGeom>
          <a:solidFill>
            <a:schemeClr val="accent1">
              <a:lumMod val="75000"/>
            </a:schemeClr>
          </a:solidFill>
          <a:ln>
            <a:noFill/>
          </a:ln>
        </p:spPr>
        <p:txBody>
          <a:bodyPr lIns="0" tIns="0" rIns="0" bIns="0" anchor="ctr"/>
          <a:lstStyle/>
          <a:p>
            <a:pPr algn="ctr"/>
            <a:r>
              <a:rPr lang="en-IN" sz="1400" b="1" dirty="0">
                <a:solidFill>
                  <a:schemeClr val="bg1"/>
                </a:solidFill>
                <a:latin typeface="IBM Plex Sans" panose="020B0503050203000203" pitchFamily="34" charset="0"/>
              </a:rPr>
              <a:t>06</a:t>
            </a:r>
          </a:p>
        </p:txBody>
      </p:sp>
      <p:sp>
        <p:nvSpPr>
          <p:cNvPr id="111" name="Label5"/>
          <p:cNvSpPr txBox="1"/>
          <p:nvPr/>
        </p:nvSpPr>
        <p:spPr>
          <a:xfrm>
            <a:off x="5270000" y="215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panose="020B0503050203000203" pitchFamily="34" charset="0"/>
              </a:rPr>
              <a:t>Key Insights</a:t>
            </a:r>
          </a:p>
        </p:txBody>
      </p:sp>
      <p:sp>
        <p:nvSpPr>
          <p:cNvPr id="112" name="NumCircle6"/>
          <p:cNvSpPr/>
          <p:nvPr/>
        </p:nvSpPr>
        <p:spPr>
          <a:xfrm>
            <a:off x="4750000" y="2740000"/>
            <a:ext cx="420000" cy="420000"/>
          </a:xfrm>
          <a:prstGeom prst="ellipse">
            <a:avLst/>
          </a:prstGeom>
          <a:solidFill>
            <a:schemeClr val="accent1">
              <a:lumMod val="75000"/>
            </a:schemeClr>
          </a:solidFill>
          <a:ln>
            <a:noFill/>
          </a:ln>
        </p:spPr>
        <p:txBody>
          <a:bodyPr lIns="0" tIns="0" rIns="0" bIns="0" anchor="ctr"/>
          <a:lstStyle/>
          <a:p>
            <a:pPr algn="ctr"/>
            <a:r>
              <a:rPr lang="en-IN" sz="1400" b="1" dirty="0">
                <a:solidFill>
                  <a:schemeClr val="bg1"/>
                </a:solidFill>
                <a:latin typeface="IBM Plex Sans" panose="020B0503050203000203" pitchFamily="34" charset="0"/>
              </a:rPr>
              <a:t>07</a:t>
            </a:r>
          </a:p>
        </p:txBody>
      </p:sp>
      <p:sp>
        <p:nvSpPr>
          <p:cNvPr id="113" name="Label6"/>
          <p:cNvSpPr txBox="1"/>
          <p:nvPr/>
        </p:nvSpPr>
        <p:spPr>
          <a:xfrm>
            <a:off x="5270000" y="2770000"/>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panose="020B0503050203000203" pitchFamily="34" charset="0"/>
              </a:rPr>
              <a:t>Conclusion</a:t>
            </a:r>
          </a:p>
        </p:txBody>
      </p:sp>
      <p:pic>
        <p:nvPicPr>
          <p:cNvPr id="10" name="Picture 9"/>
          <p:cNvPicPr>
            <a:picLocks noChangeAspect="1"/>
          </p:cNvPicPr>
          <p:nvPr/>
        </p:nvPicPr>
        <p:blipFill>
          <a:blip r:embed="rId2"/>
          <a:stretch>
            <a:fillRect/>
          </a:stretch>
        </p:blipFill>
        <p:spPr>
          <a:xfrm>
            <a:off x="368983" y="165591"/>
            <a:ext cx="1009929" cy="393439"/>
          </a:xfrm>
          <a:prstGeom prst="rect">
            <a:avLst/>
          </a:prstGeom>
        </p:spPr>
      </p:pic>
      <p:pic>
        <p:nvPicPr>
          <p:cNvPr id="4" name="Picture 3"/>
          <p:cNvPicPr>
            <a:picLocks noChangeAspect="1"/>
          </p:cNvPicPr>
          <p:nvPr/>
        </p:nvPicPr>
        <p:blipFill>
          <a:blip r:embed="rId3"/>
          <a:stretch>
            <a:fillRect/>
          </a:stretch>
        </p:blipFill>
        <p:spPr>
          <a:xfrm>
            <a:off x="7978488" y="165591"/>
            <a:ext cx="796529" cy="705085"/>
          </a:xfrm>
          <a:prstGeom prst="rect">
            <a:avLst/>
          </a:prstGeom>
        </p:spPr>
      </p:pic>
      <p:sp>
        <p:nvSpPr>
          <p:cNvPr id="7" name="NumCircle6">
            <a:extLst>
              <a:ext uri="{FF2B5EF4-FFF2-40B4-BE49-F238E27FC236}">
                <a16:creationId xmlns:a16="http://schemas.microsoft.com/office/drawing/2014/main" id="{06E40858-92AD-A2CD-DDAA-359F69136458}"/>
              </a:ext>
            </a:extLst>
          </p:cNvPr>
          <p:cNvSpPr/>
          <p:nvPr/>
        </p:nvSpPr>
        <p:spPr>
          <a:xfrm>
            <a:off x="4748666" y="3360000"/>
            <a:ext cx="420000" cy="420000"/>
          </a:xfrm>
          <a:prstGeom prst="ellipse">
            <a:avLst/>
          </a:prstGeom>
          <a:solidFill>
            <a:schemeClr val="accent1">
              <a:lumMod val="75000"/>
            </a:schemeClr>
          </a:solidFill>
          <a:ln>
            <a:noFill/>
          </a:ln>
        </p:spPr>
        <p:txBody>
          <a:bodyPr lIns="0" tIns="0" rIns="0" bIns="0" anchor="ctr"/>
          <a:lstStyle/>
          <a:p>
            <a:pPr algn="ctr"/>
            <a:r>
              <a:rPr lang="en-IN" sz="1400" b="1" dirty="0">
                <a:solidFill>
                  <a:schemeClr val="bg1"/>
                </a:solidFill>
                <a:latin typeface="IBM Plex Sans" panose="020B0503050203000203" pitchFamily="34" charset="0"/>
              </a:rPr>
              <a:t>08</a:t>
            </a:r>
          </a:p>
        </p:txBody>
      </p:sp>
      <p:sp>
        <p:nvSpPr>
          <p:cNvPr id="12" name="Label6">
            <a:extLst>
              <a:ext uri="{FF2B5EF4-FFF2-40B4-BE49-F238E27FC236}">
                <a16:creationId xmlns:a16="http://schemas.microsoft.com/office/drawing/2014/main" id="{16CDCCC0-6910-6E49-40D7-6C064EBF8B7E}"/>
              </a:ext>
            </a:extLst>
          </p:cNvPr>
          <p:cNvSpPr txBox="1"/>
          <p:nvPr/>
        </p:nvSpPr>
        <p:spPr>
          <a:xfrm>
            <a:off x="5270000" y="3374217"/>
            <a:ext cx="3380000" cy="380000"/>
          </a:xfrm>
          <a:prstGeom prst="rect">
            <a:avLst/>
          </a:prstGeom>
          <a:noFill/>
        </p:spPr>
        <p:txBody>
          <a:bodyPr wrap="square" lIns="0" tIns="0" rIns="0" bIns="0" anchor="ctr">
            <a:normAutofit/>
          </a:bodyPr>
          <a:lstStyle/>
          <a:p>
            <a:r>
              <a:rPr lang="en-IN" sz="1400" b="1" dirty="0">
                <a:solidFill>
                  <a:srgbClr val="1B1E29"/>
                </a:solidFill>
                <a:latin typeface="IBM Plex Sans" panose="020B0503050203000203" pitchFamily="34" charset="0"/>
              </a:rPr>
              <a:t>Live Demonstration</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5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3"/>
                                        </p:tgtEl>
                                        <p:attrNameLst>
                                          <p:attrName>style.visibility</p:attrName>
                                        </p:attrNameLst>
                                      </p:cBhvr>
                                      <p:to>
                                        <p:strVal val="visible"/>
                                      </p:to>
                                    </p:set>
                                    <p:animEffect transition="in" filter="fade">
                                      <p:cBhvr>
                                        <p:cTn id="12" dur="500"/>
                                        <p:tgtEl>
                                          <p:spTgt spid="10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5"/>
                                        </p:tgtEl>
                                        <p:attrNameLst>
                                          <p:attrName>style.visibility</p:attrName>
                                        </p:attrNameLst>
                                      </p:cBhvr>
                                      <p:to>
                                        <p:strVal val="visible"/>
                                      </p:to>
                                    </p:set>
                                    <p:animEffect transition="in" filter="fade">
                                      <p:cBhvr>
                                        <p:cTn id="17" dur="500"/>
                                        <p:tgtEl>
                                          <p:spTgt spid="10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7"/>
                                        </p:tgtEl>
                                        <p:attrNameLst>
                                          <p:attrName>style.visibility</p:attrName>
                                        </p:attrNameLst>
                                      </p:cBhvr>
                                      <p:to>
                                        <p:strVal val="visible"/>
                                      </p:to>
                                    </p:set>
                                    <p:animEffect transition="in" filter="fade">
                                      <p:cBhvr>
                                        <p:cTn id="22" dur="500"/>
                                        <p:tgtEl>
                                          <p:spTgt spid="10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9"/>
                                        </p:tgtEl>
                                        <p:attrNameLst>
                                          <p:attrName>style.visibility</p:attrName>
                                        </p:attrNameLst>
                                      </p:cBhvr>
                                      <p:to>
                                        <p:strVal val="visible"/>
                                      </p:to>
                                    </p:set>
                                    <p:animEffect transition="in" filter="fade">
                                      <p:cBhvr>
                                        <p:cTn id="27" dur="500"/>
                                        <p:tgtEl>
                                          <p:spTgt spid="10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1"/>
                                        </p:tgtEl>
                                        <p:attrNameLst>
                                          <p:attrName>style.visibility</p:attrName>
                                        </p:attrNameLst>
                                      </p:cBhvr>
                                      <p:to>
                                        <p:strVal val="visible"/>
                                      </p:to>
                                    </p:set>
                                    <p:animEffect transition="in" filter="fade">
                                      <p:cBhvr>
                                        <p:cTn id="32" dur="500"/>
                                        <p:tgtEl>
                                          <p:spTgt spid="1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3"/>
                                        </p:tgtEl>
                                        <p:attrNameLst>
                                          <p:attrName>style.visibility</p:attrName>
                                        </p:attrNameLst>
                                      </p:cBhvr>
                                      <p:to>
                                        <p:strVal val="visible"/>
                                      </p:to>
                                    </p:set>
                                    <p:animEffect transition="in" filter="fade">
                                      <p:cBhvr>
                                        <p:cTn id="37" dur="500"/>
                                        <p:tgtEl>
                                          <p:spTgt spid="1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3" grpId="0"/>
      <p:bldP spid="105" grpId="0"/>
      <p:bldP spid="107" grpId="0"/>
      <p:bldP spid="109" grpId="0"/>
      <p:bldP spid="111" grpId="0"/>
      <p:bldP spid="113"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p:cNvSpPr txBox="1"/>
          <p:nvPr/>
        </p:nvSpPr>
        <p:spPr>
          <a:xfrm>
            <a:off x="368983" y="640000"/>
            <a:ext cx="8000000" cy="523220"/>
          </a:xfrm>
          <a:prstGeom prst="rect">
            <a:avLst/>
          </a:prstGeom>
          <a:noFill/>
        </p:spPr>
        <p:txBody>
          <a:bodyPr wrap="square" rtlCol="0">
            <a:spAutoFit/>
          </a:bodyPr>
          <a:lstStyle/>
          <a:p>
            <a:r>
              <a:rPr lang="en-IN" sz="2800" b="1" dirty="0">
                <a:solidFill>
                  <a:srgbClr val="008000"/>
                </a:solidFill>
                <a:latin typeface="IBM Plex Sans" panose="020B0503050203000203" pitchFamily="34" charset="0"/>
              </a:rPr>
              <a:t>Global Energy Transition</a:t>
            </a:r>
          </a:p>
        </p:txBody>
      </p:sp>
      <p:sp>
        <p:nvSpPr>
          <p:cNvPr id="20" name="Text20"/>
          <p:cNvSpPr txBox="1"/>
          <p:nvPr/>
        </p:nvSpPr>
        <p:spPr>
          <a:xfrm>
            <a:off x="368983" y="1306948"/>
            <a:ext cx="8406034" cy="1350508"/>
          </a:xfrm>
          <a:prstGeom prst="rect">
            <a:avLst/>
          </a:prstGeom>
          <a:noFill/>
        </p:spPr>
        <p:txBody>
          <a:bodyPr wrap="square" lIns="0" tIns="0" rIns="0" bIns="0" anchor="t">
            <a:noAutofit/>
          </a:bodyPr>
          <a:lstStyle/>
          <a:p>
            <a:r>
              <a:rPr lang="en-IN" sz="1200" dirty="0">
                <a:latin typeface="IBM Plex Sans" panose="020B0503050203000203" pitchFamily="34" charset="0"/>
              </a:rPr>
              <a:t>The growing demand for clean and sustainable energy has made energy transition one of the world's most important challenges. Countries are increasingly investing in renewable energy to reduce dependence on fossil fuels and mitigate climate change.</a:t>
            </a:r>
          </a:p>
          <a:p>
            <a:r>
              <a:rPr lang="en-IN" sz="1200" dirty="0">
                <a:latin typeface="IBM Plex Sans" panose="020B0503050203000203" pitchFamily="34" charset="0"/>
              </a:rPr>
              <a:t>However, understanding the relationship between energy consumption, renewable adoption, carbon emissions, and climate impact requires </a:t>
            </a:r>
            <a:r>
              <a:rPr lang="en-IN" sz="1200" dirty="0" err="1">
                <a:latin typeface="IBM Plex Sans" panose="020B0503050203000203" pitchFamily="34" charset="0"/>
              </a:rPr>
              <a:t>analyzing</a:t>
            </a:r>
            <a:r>
              <a:rPr lang="en-IN" sz="1200" dirty="0">
                <a:latin typeface="IBM Plex Sans" panose="020B0503050203000203" pitchFamily="34" charset="0"/>
              </a:rPr>
              <a:t> large and complex datasets.</a:t>
            </a:r>
          </a:p>
          <a:p>
            <a:r>
              <a:rPr lang="en-IN" sz="1200" dirty="0">
                <a:latin typeface="IBM Plex Sans" panose="020B0503050203000203" pitchFamily="34" charset="0"/>
              </a:rPr>
              <a:t>This project transforms these datasets into interactive visual dashboards that support data-driven decision-making.</a:t>
            </a:r>
          </a:p>
        </p:txBody>
      </p:sp>
      <p:sp>
        <p:nvSpPr>
          <p:cNvPr id="30" name="Rect30"/>
          <p:cNvSpPr/>
          <p:nvPr/>
        </p:nvSpPr>
        <p:spPr>
          <a:xfrm>
            <a:off x="368983" y="2950000"/>
            <a:ext cx="1989000" cy="1050000"/>
          </a:xfrm>
          <a:prstGeom prst="roundRect">
            <a:avLst/>
          </a:prstGeom>
          <a:solidFill>
            <a:schemeClr val="accent3">
              <a:lumMod val="40000"/>
              <a:lumOff val="60000"/>
            </a:schemeClr>
          </a:solidFill>
          <a:ln>
            <a:noFill/>
          </a:ln>
        </p:spPr>
        <p:txBody>
          <a:bodyPr/>
          <a:lstStyle/>
          <a:p>
            <a:endParaRPr>
              <a:latin typeface="IBM Plex Sans" panose="020B0503050203000203" pitchFamily="34" charset="0"/>
            </a:endParaRPr>
          </a:p>
        </p:txBody>
      </p:sp>
      <p:sp>
        <p:nvSpPr>
          <p:cNvPr id="40" name="Text40"/>
          <p:cNvSpPr txBox="1"/>
          <p:nvPr/>
        </p:nvSpPr>
        <p:spPr>
          <a:xfrm>
            <a:off x="428983" y="3250000"/>
            <a:ext cx="1869000" cy="450000"/>
          </a:xfrm>
          <a:prstGeom prst="rect">
            <a:avLst/>
          </a:prstGeom>
          <a:noFill/>
        </p:spPr>
        <p:txBody>
          <a:bodyPr wrap="square" lIns="0" tIns="0" rIns="0" bIns="0" anchor="t">
            <a:normAutofit/>
          </a:bodyPr>
          <a:lstStyle/>
          <a:p>
            <a:pPr algn="ctr"/>
            <a:r>
              <a:rPr lang="en-IN" sz="2000" b="1" dirty="0">
                <a:solidFill>
                  <a:srgbClr val="008000"/>
                </a:solidFill>
                <a:latin typeface="IBM Plex Sans" panose="020B0503050203000203" pitchFamily="34" charset="0"/>
              </a:rPr>
              <a:t>220+ Countries</a:t>
            </a:r>
            <a:endParaRPr lang="en-IN" sz="2000" b="1" i="0" dirty="0">
              <a:solidFill>
                <a:srgbClr val="008000"/>
              </a:solidFill>
              <a:latin typeface="IBM Plex Sans" panose="020B0503050203000203" pitchFamily="34" charset="0"/>
            </a:endParaRPr>
          </a:p>
        </p:txBody>
      </p:sp>
      <p:sp>
        <p:nvSpPr>
          <p:cNvPr id="31" name="Rect31"/>
          <p:cNvSpPr/>
          <p:nvPr/>
        </p:nvSpPr>
        <p:spPr>
          <a:xfrm>
            <a:off x="2507983" y="2950000"/>
            <a:ext cx="1989000" cy="1050000"/>
          </a:xfrm>
          <a:prstGeom prst="roundRect">
            <a:avLst/>
          </a:prstGeom>
          <a:solidFill>
            <a:schemeClr val="accent3">
              <a:lumMod val="40000"/>
              <a:lumOff val="60000"/>
            </a:schemeClr>
          </a:solidFill>
          <a:ln>
            <a:noFill/>
          </a:ln>
        </p:spPr>
        <p:txBody>
          <a:bodyPr/>
          <a:lstStyle/>
          <a:p>
            <a:endParaRPr>
              <a:latin typeface="IBM Plex Sans" panose="020B0503050203000203" pitchFamily="34" charset="0"/>
            </a:endParaRPr>
          </a:p>
        </p:txBody>
      </p:sp>
      <p:sp>
        <p:nvSpPr>
          <p:cNvPr id="41" name="Text41"/>
          <p:cNvSpPr txBox="1"/>
          <p:nvPr/>
        </p:nvSpPr>
        <p:spPr>
          <a:xfrm>
            <a:off x="2567983" y="3250000"/>
            <a:ext cx="1869000" cy="450000"/>
          </a:xfrm>
          <a:prstGeom prst="rect">
            <a:avLst/>
          </a:prstGeom>
          <a:noFill/>
        </p:spPr>
        <p:txBody>
          <a:bodyPr wrap="square" lIns="0" tIns="0" rIns="0" bIns="0" anchor="t">
            <a:normAutofit fontScale="85000" lnSpcReduction="20000"/>
          </a:bodyPr>
          <a:lstStyle/>
          <a:p>
            <a:pPr algn="ctr"/>
            <a:r>
              <a:rPr lang="en-IN" sz="2000" b="1" dirty="0">
                <a:solidFill>
                  <a:srgbClr val="008000"/>
                </a:solidFill>
                <a:latin typeface="IBM Plex Sans" panose="020B0503050203000203" pitchFamily="34" charset="0"/>
              </a:rPr>
              <a:t>25 Years (2000–2024)</a:t>
            </a:r>
            <a:endParaRPr lang="en-IN" sz="2000" b="1" i="0" dirty="0">
              <a:solidFill>
                <a:srgbClr val="008000"/>
              </a:solidFill>
              <a:latin typeface="IBM Plex Sans" panose="020B0503050203000203" pitchFamily="34" charset="0"/>
            </a:endParaRPr>
          </a:p>
        </p:txBody>
      </p:sp>
      <p:sp>
        <p:nvSpPr>
          <p:cNvPr id="32" name="Rect32"/>
          <p:cNvSpPr/>
          <p:nvPr/>
        </p:nvSpPr>
        <p:spPr>
          <a:xfrm>
            <a:off x="4646983" y="2950000"/>
            <a:ext cx="1989000" cy="1050000"/>
          </a:xfrm>
          <a:prstGeom prst="roundRect">
            <a:avLst/>
          </a:prstGeom>
          <a:solidFill>
            <a:schemeClr val="accent3">
              <a:lumMod val="40000"/>
              <a:lumOff val="60000"/>
            </a:schemeClr>
          </a:solidFill>
          <a:ln>
            <a:noFill/>
          </a:ln>
        </p:spPr>
        <p:txBody>
          <a:bodyPr/>
          <a:lstStyle/>
          <a:p>
            <a:endParaRPr dirty="0">
              <a:latin typeface="IBM Plex Sans" panose="020B0503050203000203" pitchFamily="34" charset="0"/>
            </a:endParaRPr>
          </a:p>
        </p:txBody>
      </p:sp>
      <p:sp>
        <p:nvSpPr>
          <p:cNvPr id="42" name="Text42"/>
          <p:cNvSpPr txBox="1"/>
          <p:nvPr/>
        </p:nvSpPr>
        <p:spPr>
          <a:xfrm>
            <a:off x="4706983" y="3250000"/>
            <a:ext cx="1869000" cy="450000"/>
          </a:xfrm>
          <a:prstGeom prst="rect">
            <a:avLst/>
          </a:prstGeom>
          <a:noFill/>
        </p:spPr>
        <p:txBody>
          <a:bodyPr wrap="square" lIns="0" tIns="0" rIns="0" bIns="0" anchor="t">
            <a:normAutofit fontScale="85000" lnSpcReduction="20000"/>
          </a:bodyPr>
          <a:lstStyle/>
          <a:p>
            <a:pPr algn="ctr"/>
            <a:r>
              <a:rPr lang="en-IN" sz="2000" b="1" i="0" dirty="0">
                <a:solidFill>
                  <a:srgbClr val="008000"/>
                </a:solidFill>
                <a:latin typeface="IBM Plex Sans" panose="020B0503050203000203" pitchFamily="34" charset="0"/>
              </a:rPr>
              <a:t>Multiple Energy Indicators</a:t>
            </a:r>
          </a:p>
        </p:txBody>
      </p:sp>
      <p:sp>
        <p:nvSpPr>
          <p:cNvPr id="33" name="Rect33"/>
          <p:cNvSpPr/>
          <p:nvPr/>
        </p:nvSpPr>
        <p:spPr>
          <a:xfrm>
            <a:off x="6785983" y="2950000"/>
            <a:ext cx="1989000" cy="1050000"/>
          </a:xfrm>
          <a:prstGeom prst="roundRect">
            <a:avLst/>
          </a:prstGeom>
          <a:solidFill>
            <a:schemeClr val="accent3">
              <a:lumMod val="40000"/>
              <a:lumOff val="60000"/>
            </a:schemeClr>
          </a:solidFill>
          <a:ln>
            <a:noFill/>
          </a:ln>
        </p:spPr>
        <p:txBody>
          <a:bodyPr/>
          <a:lstStyle/>
          <a:p>
            <a:endParaRPr>
              <a:latin typeface="IBM Plex Sans" panose="020B0503050203000203" pitchFamily="34" charset="0"/>
            </a:endParaRPr>
          </a:p>
        </p:txBody>
      </p:sp>
      <p:sp>
        <p:nvSpPr>
          <p:cNvPr id="43" name="Text43"/>
          <p:cNvSpPr txBox="1"/>
          <p:nvPr/>
        </p:nvSpPr>
        <p:spPr>
          <a:xfrm>
            <a:off x="6845983" y="3250000"/>
            <a:ext cx="1869000" cy="450000"/>
          </a:xfrm>
          <a:prstGeom prst="rect">
            <a:avLst/>
          </a:prstGeom>
          <a:noFill/>
        </p:spPr>
        <p:txBody>
          <a:bodyPr wrap="square" lIns="0" tIns="0" rIns="0" bIns="0" anchor="t">
            <a:normAutofit fontScale="85000" lnSpcReduction="20000"/>
          </a:bodyPr>
          <a:lstStyle/>
          <a:p>
            <a:pPr algn="ctr"/>
            <a:r>
              <a:rPr lang="en-IN" sz="2000" b="1" i="0" dirty="0">
                <a:solidFill>
                  <a:srgbClr val="008000"/>
                </a:solidFill>
                <a:latin typeface="IBM Plex Sans" panose="020B0503050203000203" pitchFamily="34" charset="0"/>
              </a:rPr>
              <a:t>Climate Intelligence</a:t>
            </a:r>
          </a:p>
        </p:txBody>
      </p:sp>
      <p:sp>
        <p:nvSpPr>
          <p:cNvPr id="60" name="Text60"/>
          <p:cNvSpPr txBox="1"/>
          <p:nvPr/>
        </p:nvSpPr>
        <p:spPr>
          <a:xfrm>
            <a:off x="368983" y="4120000"/>
            <a:ext cx="8000000" cy="260000"/>
          </a:xfrm>
          <a:prstGeom prst="rect">
            <a:avLst/>
          </a:prstGeom>
          <a:noFill/>
        </p:spPr>
        <p:txBody>
          <a:bodyPr wrap="square" lIns="0" tIns="0" rIns="0" bIns="0" anchor="t">
            <a:normAutofit/>
          </a:bodyPr>
          <a:lstStyle/>
          <a:p>
            <a:pPr algn="l"/>
            <a:r>
              <a:rPr lang="en-IN" sz="950" b="0" i="1" dirty="0">
                <a:solidFill>
                  <a:srgbClr val="8A93A3"/>
                </a:solidFill>
                <a:latin typeface="IBM Plex Sans" panose="020B0503050203000203" pitchFamily="34" charset="0"/>
              </a:rPr>
              <a:t>Source: </a:t>
            </a:r>
            <a:r>
              <a:rPr lang="en-IN" sz="950" i="1" dirty="0">
                <a:solidFill>
                  <a:srgbClr val="8A93A3"/>
                </a:solidFill>
                <a:latin typeface="IBM Plex Sans" panose="020B0503050203000203" pitchFamily="34" charset="0"/>
              </a:rPr>
              <a:t>OWID dataset</a:t>
            </a:r>
            <a:r>
              <a:rPr lang="en-IN" sz="950" b="0" i="1" dirty="0">
                <a:solidFill>
                  <a:srgbClr val="8A93A3"/>
                </a:solidFill>
                <a:latin typeface="IBM Plex Sans" panose="020B0503050203000203" pitchFamily="34" charset="0"/>
              </a:rPr>
              <a:t> — approximate figures for context</a:t>
            </a:r>
          </a:p>
        </p:txBody>
      </p:sp>
      <p:pic>
        <p:nvPicPr>
          <p:cNvPr id="10" name="Picture 9"/>
          <p:cNvPicPr>
            <a:picLocks noChangeAspect="1"/>
          </p:cNvPicPr>
          <p:nvPr/>
        </p:nvPicPr>
        <p:blipFill>
          <a:blip r:embed="rId2"/>
          <a:stretch>
            <a:fillRect/>
          </a:stretch>
        </p:blipFill>
        <p:spPr>
          <a:xfrm>
            <a:off x="368983" y="165591"/>
            <a:ext cx="1009929" cy="393439"/>
          </a:xfrm>
          <a:prstGeom prst="rect">
            <a:avLst/>
          </a:prstGeom>
        </p:spPr>
      </p:pic>
      <p:pic>
        <p:nvPicPr>
          <p:cNvPr id="4" name="Picture 3"/>
          <p:cNvPicPr>
            <a:picLocks noChangeAspect="1"/>
          </p:cNvPicPr>
          <p:nvPr/>
        </p:nvPicPr>
        <p:blipFill>
          <a:blip r:embed="rId3"/>
          <a:stretch>
            <a:fillRect/>
          </a:stretch>
        </p:blipFill>
        <p:spPr>
          <a:xfrm>
            <a:off x="7978488" y="165591"/>
            <a:ext cx="796529" cy="70508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p:cNvSpPr txBox="1"/>
          <p:nvPr/>
        </p:nvSpPr>
        <p:spPr>
          <a:xfrm>
            <a:off x="368983" y="640000"/>
            <a:ext cx="8000000" cy="523220"/>
          </a:xfrm>
          <a:prstGeom prst="rect">
            <a:avLst/>
          </a:prstGeom>
          <a:noFill/>
        </p:spPr>
        <p:txBody>
          <a:bodyPr wrap="square" rtlCol="0">
            <a:spAutoFit/>
          </a:bodyPr>
          <a:lstStyle/>
          <a:p>
            <a:r>
              <a:rPr lang="en-IN" sz="2800" b="1" dirty="0">
                <a:solidFill>
                  <a:srgbClr val="008000"/>
                </a:solidFill>
                <a:latin typeface="IBM Plex Sans" panose="020B0503050203000203" pitchFamily="34" charset="0"/>
              </a:rPr>
              <a:t>Problem Statement</a:t>
            </a:r>
          </a:p>
        </p:txBody>
      </p:sp>
      <p:sp>
        <p:nvSpPr>
          <p:cNvPr id="20" name="Rect20"/>
          <p:cNvSpPr/>
          <p:nvPr/>
        </p:nvSpPr>
        <p:spPr>
          <a:xfrm>
            <a:off x="368983" y="1353500"/>
            <a:ext cx="3590000" cy="3150000"/>
          </a:xfrm>
          <a:prstGeom prst="rect">
            <a:avLst/>
          </a:prstGeom>
          <a:solidFill>
            <a:schemeClr val="accent2">
              <a:lumMod val="20000"/>
              <a:lumOff val="80000"/>
            </a:schemeClr>
          </a:solidFill>
          <a:ln>
            <a:noFill/>
          </a:ln>
        </p:spPr>
        <p:txBody>
          <a:bodyPr/>
          <a:lstStyle/>
          <a:p>
            <a:endParaRPr>
              <a:latin typeface="IBM Plex Sans" panose="020B0503050203000203" pitchFamily="34" charset="0"/>
            </a:endParaRPr>
          </a:p>
        </p:txBody>
      </p:sp>
      <p:sp>
        <p:nvSpPr>
          <p:cNvPr id="21" name="Rect21"/>
          <p:cNvSpPr/>
          <p:nvPr/>
        </p:nvSpPr>
        <p:spPr>
          <a:xfrm>
            <a:off x="4618983" y="1353500"/>
            <a:ext cx="3590000" cy="3150000"/>
          </a:xfrm>
          <a:prstGeom prst="rect">
            <a:avLst/>
          </a:prstGeom>
          <a:solidFill>
            <a:schemeClr val="accent3">
              <a:lumMod val="20000"/>
              <a:lumOff val="80000"/>
            </a:schemeClr>
          </a:solidFill>
          <a:ln>
            <a:noFill/>
          </a:ln>
        </p:spPr>
        <p:txBody>
          <a:bodyPr/>
          <a:lstStyle/>
          <a:p>
            <a:endParaRPr>
              <a:latin typeface="IBM Plex Sans" panose="020B0503050203000203" pitchFamily="34" charset="0"/>
            </a:endParaRPr>
          </a:p>
        </p:txBody>
      </p:sp>
      <p:sp>
        <p:nvSpPr>
          <p:cNvPr id="30" name="Circle30"/>
          <p:cNvSpPr/>
          <p:nvPr/>
        </p:nvSpPr>
        <p:spPr>
          <a:xfrm>
            <a:off x="598983" y="1613978"/>
            <a:ext cx="420000" cy="420000"/>
          </a:xfrm>
          <a:prstGeom prst="ellipse">
            <a:avLst/>
          </a:prstGeom>
          <a:solidFill>
            <a:schemeClr val="accent2">
              <a:lumMod val="75000"/>
            </a:schemeClr>
          </a:solidFill>
          <a:ln>
            <a:noFill/>
          </a:ln>
        </p:spPr>
        <p:txBody>
          <a:bodyPr/>
          <a:lstStyle/>
          <a:p>
            <a:endParaRPr>
              <a:latin typeface="IBM Plex Sans" panose="020B0503050203000203" pitchFamily="34" charset="0"/>
            </a:endParaRPr>
          </a:p>
        </p:txBody>
      </p:sp>
      <p:sp>
        <p:nvSpPr>
          <p:cNvPr id="31" name="Circle31"/>
          <p:cNvSpPr/>
          <p:nvPr/>
        </p:nvSpPr>
        <p:spPr>
          <a:xfrm>
            <a:off x="4848983" y="1652400"/>
            <a:ext cx="420000" cy="420000"/>
          </a:xfrm>
          <a:prstGeom prst="ellipse">
            <a:avLst/>
          </a:prstGeom>
          <a:solidFill>
            <a:schemeClr val="accent3">
              <a:lumMod val="50000"/>
            </a:schemeClr>
          </a:solidFill>
          <a:ln>
            <a:noFill/>
          </a:ln>
        </p:spPr>
        <p:txBody>
          <a:bodyPr/>
          <a:lstStyle/>
          <a:p>
            <a:endParaRPr>
              <a:latin typeface="IBM Plex Sans" panose="020B0503050203000203" pitchFamily="34" charset="0"/>
            </a:endParaRPr>
          </a:p>
        </p:txBody>
      </p:sp>
      <p:sp>
        <p:nvSpPr>
          <p:cNvPr id="40" name="Text40"/>
          <p:cNvSpPr txBox="1"/>
          <p:nvPr/>
        </p:nvSpPr>
        <p:spPr>
          <a:xfrm>
            <a:off x="778983" y="1672400"/>
            <a:ext cx="60000" cy="380000"/>
          </a:xfrm>
          <a:prstGeom prst="rect">
            <a:avLst/>
          </a:prstGeom>
          <a:noFill/>
        </p:spPr>
        <p:txBody>
          <a:bodyPr wrap="square" lIns="0" tIns="0" rIns="0" bIns="0" anchor="ctr">
            <a:normAutofit/>
          </a:bodyPr>
          <a:lstStyle/>
          <a:p>
            <a:pPr algn="ctr"/>
            <a:r>
              <a:rPr lang="en-IN" sz="1800" b="1" i="0" dirty="0">
                <a:solidFill>
                  <a:srgbClr val="FFFFFF"/>
                </a:solidFill>
                <a:latin typeface="IBM Plex Sans" panose="020B0503050203000203" pitchFamily="34" charset="0"/>
              </a:rPr>
              <a:t>!</a:t>
            </a:r>
          </a:p>
        </p:txBody>
      </p:sp>
      <p:sp>
        <p:nvSpPr>
          <p:cNvPr id="41" name="Text41"/>
          <p:cNvSpPr txBox="1"/>
          <p:nvPr/>
        </p:nvSpPr>
        <p:spPr>
          <a:xfrm>
            <a:off x="5028983" y="1672400"/>
            <a:ext cx="60000" cy="380000"/>
          </a:xfrm>
          <a:prstGeom prst="rect">
            <a:avLst/>
          </a:prstGeom>
          <a:noFill/>
        </p:spPr>
        <p:txBody>
          <a:bodyPr wrap="square" lIns="0" tIns="0" rIns="0" bIns="0" anchor="ctr">
            <a:normAutofit/>
          </a:bodyPr>
          <a:lstStyle/>
          <a:p>
            <a:pPr algn="ctr"/>
            <a:r>
              <a:rPr lang="en-IN" sz="1800" b="1" i="0" dirty="0">
                <a:solidFill>
                  <a:srgbClr val="FFFFFF"/>
                </a:solidFill>
                <a:latin typeface="IBM Plex Sans" panose="020B0503050203000203" pitchFamily="34" charset="0"/>
              </a:rPr>
              <a:t>i</a:t>
            </a:r>
          </a:p>
        </p:txBody>
      </p:sp>
      <p:sp>
        <p:nvSpPr>
          <p:cNvPr id="50" name="Text50"/>
          <p:cNvSpPr txBox="1"/>
          <p:nvPr/>
        </p:nvSpPr>
        <p:spPr>
          <a:xfrm>
            <a:off x="598983" y="2224258"/>
            <a:ext cx="3590000" cy="400000"/>
          </a:xfrm>
          <a:prstGeom prst="rect">
            <a:avLst/>
          </a:prstGeom>
          <a:noFill/>
        </p:spPr>
        <p:txBody>
          <a:bodyPr wrap="square" lIns="0" tIns="0" rIns="0" bIns="0" anchor="t">
            <a:normAutofit/>
          </a:bodyPr>
          <a:lstStyle/>
          <a:p>
            <a:pPr algn="l"/>
            <a:r>
              <a:rPr lang="en-IN" sz="1800" b="1" i="0" dirty="0">
                <a:solidFill>
                  <a:schemeClr val="accent2">
                    <a:lumMod val="75000"/>
                  </a:schemeClr>
                </a:solidFill>
                <a:latin typeface="IBM Plex Sans" panose="020B0503050203000203" pitchFamily="34" charset="0"/>
              </a:rPr>
              <a:t>Existing Problems</a:t>
            </a:r>
          </a:p>
        </p:txBody>
      </p:sp>
      <p:sp>
        <p:nvSpPr>
          <p:cNvPr id="51" name="Text51"/>
          <p:cNvSpPr txBox="1"/>
          <p:nvPr/>
        </p:nvSpPr>
        <p:spPr>
          <a:xfrm>
            <a:off x="4848983" y="2223414"/>
            <a:ext cx="3590000" cy="400000"/>
          </a:xfrm>
          <a:prstGeom prst="rect">
            <a:avLst/>
          </a:prstGeom>
          <a:noFill/>
        </p:spPr>
        <p:txBody>
          <a:bodyPr wrap="square" lIns="0" tIns="0" rIns="0" bIns="0" anchor="t">
            <a:normAutofit/>
          </a:bodyPr>
          <a:lstStyle/>
          <a:p>
            <a:pPr algn="l"/>
            <a:r>
              <a:rPr lang="en-IN" sz="1800" b="1" i="0" dirty="0">
                <a:solidFill>
                  <a:schemeClr val="accent3">
                    <a:lumMod val="50000"/>
                  </a:schemeClr>
                </a:solidFill>
                <a:latin typeface="IBM Plex Sans" panose="020B0503050203000203" pitchFamily="34" charset="0"/>
              </a:rPr>
              <a:t>Our </a:t>
            </a:r>
            <a:r>
              <a:rPr lang="en-IN" sz="1800" b="1" dirty="0">
                <a:solidFill>
                  <a:schemeClr val="accent3">
                    <a:lumMod val="50000"/>
                  </a:schemeClr>
                </a:solidFill>
                <a:latin typeface="IBM Plex Sans" panose="020B0503050203000203" pitchFamily="34" charset="0"/>
              </a:rPr>
              <a:t>Solution</a:t>
            </a:r>
            <a:endParaRPr lang="en-IN" sz="1800" b="1" i="0" dirty="0">
              <a:solidFill>
                <a:schemeClr val="accent3">
                  <a:lumMod val="50000"/>
                </a:schemeClr>
              </a:solidFill>
              <a:latin typeface="IBM Plex Sans" panose="020B0503050203000203" pitchFamily="34" charset="0"/>
            </a:endParaRPr>
          </a:p>
        </p:txBody>
      </p:sp>
      <p:sp>
        <p:nvSpPr>
          <p:cNvPr id="60" name="Bullets60"/>
          <p:cNvSpPr txBox="1"/>
          <p:nvPr/>
        </p:nvSpPr>
        <p:spPr>
          <a:xfrm>
            <a:off x="598983" y="2796116"/>
            <a:ext cx="3590000" cy="1700000"/>
          </a:xfrm>
          <a:prstGeom prst="rect">
            <a:avLst/>
          </a:prstGeom>
          <a:noFill/>
        </p:spPr>
        <p:txBody>
          <a:bodyPr wrap="square" lIns="0" tIns="0" rIns="0" bIns="0">
            <a:normAutofit/>
          </a:bodyPr>
          <a:lstStyle/>
          <a:p>
            <a:pPr>
              <a:buClr>
                <a:srgbClr val="B85042"/>
              </a:buClr>
            </a:pPr>
            <a:r>
              <a:rPr lang="en-US" sz="1600" dirty="0">
                <a:solidFill>
                  <a:srgbClr val="333A47"/>
                </a:solidFill>
                <a:latin typeface="IBM Plex Sans" panose="020B0503050203000203" pitchFamily="34" charset="0"/>
              </a:rPr>
              <a:t>⚠️ Large datasets</a:t>
            </a:r>
          </a:p>
          <a:p>
            <a:pPr>
              <a:buClr>
                <a:srgbClr val="B85042"/>
              </a:buClr>
            </a:pPr>
            <a:r>
              <a:rPr lang="en-US" sz="1600" dirty="0">
                <a:solidFill>
                  <a:srgbClr val="333A47"/>
                </a:solidFill>
                <a:latin typeface="IBM Plex Sans" panose="020B0503050203000203" pitchFamily="34" charset="0"/>
              </a:rPr>
              <a:t>⚠️ Complex analysis</a:t>
            </a:r>
          </a:p>
          <a:p>
            <a:pPr>
              <a:buClr>
                <a:srgbClr val="B85042"/>
              </a:buClr>
            </a:pPr>
            <a:r>
              <a:rPr lang="en-US" sz="1600" dirty="0">
                <a:solidFill>
                  <a:srgbClr val="333A47"/>
                </a:solidFill>
                <a:latin typeface="IBM Plex Sans" panose="020B0503050203000203" pitchFamily="34" charset="0"/>
              </a:rPr>
              <a:t>⚠️ Poor comparison</a:t>
            </a:r>
          </a:p>
          <a:p>
            <a:pPr>
              <a:buClr>
                <a:srgbClr val="B85042"/>
              </a:buClr>
            </a:pPr>
            <a:r>
              <a:rPr lang="en-US" sz="1600" dirty="0">
                <a:solidFill>
                  <a:srgbClr val="333A47"/>
                </a:solidFill>
                <a:latin typeface="IBM Plex Sans" panose="020B0503050203000203" pitchFamily="34" charset="0"/>
              </a:rPr>
              <a:t>⚠️ Manual preprocessing</a:t>
            </a:r>
            <a:endParaRPr lang="en-IN" sz="1600" dirty="0">
              <a:solidFill>
                <a:srgbClr val="333A47"/>
              </a:solidFill>
              <a:latin typeface="IBM Plex Sans" panose="020B0503050203000203" pitchFamily="34" charset="0"/>
            </a:endParaRPr>
          </a:p>
        </p:txBody>
      </p:sp>
      <p:sp>
        <p:nvSpPr>
          <p:cNvPr id="70" name="Bullets70"/>
          <p:cNvSpPr txBox="1"/>
          <p:nvPr/>
        </p:nvSpPr>
        <p:spPr>
          <a:xfrm>
            <a:off x="4848983" y="2774428"/>
            <a:ext cx="3590000" cy="1700000"/>
          </a:xfrm>
          <a:prstGeom prst="rect">
            <a:avLst/>
          </a:prstGeom>
          <a:noFill/>
        </p:spPr>
        <p:txBody>
          <a:bodyPr wrap="square" lIns="0" tIns="0" rIns="0" bIns="0">
            <a:normAutofit/>
          </a:bodyPr>
          <a:lstStyle/>
          <a:p>
            <a:pPr>
              <a:buClr>
                <a:srgbClr val="0532B3"/>
              </a:buClr>
            </a:pPr>
            <a:r>
              <a:rPr lang="en-US" sz="1600" dirty="0">
                <a:solidFill>
                  <a:srgbClr val="333A47"/>
                </a:solidFill>
                <a:latin typeface="IBM Plex Sans" panose="020B0503050203000203" pitchFamily="34" charset="0"/>
              </a:rPr>
              <a:t>✅ Interactive dashboard</a:t>
            </a:r>
          </a:p>
          <a:p>
            <a:pPr>
              <a:buClr>
                <a:srgbClr val="0532B3"/>
              </a:buClr>
            </a:pPr>
            <a:r>
              <a:rPr lang="en-US" sz="1600" dirty="0">
                <a:solidFill>
                  <a:srgbClr val="333A47"/>
                </a:solidFill>
                <a:latin typeface="IBM Plex Sans" panose="020B0503050203000203" pitchFamily="34" charset="0"/>
              </a:rPr>
              <a:t>✅ Data integration</a:t>
            </a:r>
          </a:p>
          <a:p>
            <a:pPr>
              <a:buClr>
                <a:srgbClr val="0532B3"/>
              </a:buClr>
            </a:pPr>
            <a:r>
              <a:rPr lang="en-US" sz="1600" dirty="0">
                <a:solidFill>
                  <a:srgbClr val="333A47"/>
                </a:solidFill>
                <a:latin typeface="IBM Plex Sans" panose="020B0503050203000203" pitchFamily="34" charset="0"/>
              </a:rPr>
              <a:t>✅ Sustainability insights</a:t>
            </a:r>
          </a:p>
          <a:p>
            <a:pPr>
              <a:buClr>
                <a:srgbClr val="0532B3"/>
              </a:buClr>
            </a:pPr>
            <a:r>
              <a:rPr lang="en-US" sz="1600" dirty="0">
                <a:solidFill>
                  <a:srgbClr val="333A47"/>
                </a:solidFill>
                <a:latin typeface="IBM Plex Sans" panose="020B0503050203000203" pitchFamily="34" charset="0"/>
              </a:rPr>
              <a:t>✅ Easy comparison</a:t>
            </a:r>
            <a:endParaRPr lang="en-IN" sz="1600" dirty="0">
              <a:solidFill>
                <a:srgbClr val="333A47"/>
              </a:solidFill>
              <a:latin typeface="IBM Plex Sans" panose="020B0503050203000203" pitchFamily="34" charset="0"/>
            </a:endParaRPr>
          </a:p>
        </p:txBody>
      </p:sp>
      <p:pic>
        <p:nvPicPr>
          <p:cNvPr id="10" name="Picture 9"/>
          <p:cNvPicPr>
            <a:picLocks noChangeAspect="1"/>
          </p:cNvPicPr>
          <p:nvPr/>
        </p:nvPicPr>
        <p:blipFill>
          <a:blip r:embed="rId2"/>
          <a:stretch>
            <a:fillRect/>
          </a:stretch>
        </p:blipFill>
        <p:spPr>
          <a:xfrm>
            <a:off x="368983" y="165591"/>
            <a:ext cx="1009929" cy="393439"/>
          </a:xfrm>
          <a:prstGeom prst="rect">
            <a:avLst/>
          </a:prstGeom>
        </p:spPr>
      </p:pic>
      <p:pic>
        <p:nvPicPr>
          <p:cNvPr id="4" name="Picture 3"/>
          <p:cNvPicPr>
            <a:picLocks noChangeAspect="1"/>
          </p:cNvPicPr>
          <p:nvPr/>
        </p:nvPicPr>
        <p:blipFill>
          <a:blip r:embed="rId3"/>
          <a:stretch>
            <a:fillRect/>
          </a:stretch>
        </p:blipFill>
        <p:spPr>
          <a:xfrm>
            <a:off x="7978488" y="165591"/>
            <a:ext cx="796529" cy="705085"/>
          </a:xfrm>
          <a:prstGeom prst="rect">
            <a:avLst/>
          </a:prstGeom>
        </p:spPr>
      </p:pic>
      <p:pic>
        <p:nvPicPr>
          <p:cNvPr id="6" name="Graphic 5" descr="Chevron arrows with solid fill">
            <a:extLst>
              <a:ext uri="{FF2B5EF4-FFF2-40B4-BE49-F238E27FC236}">
                <a16:creationId xmlns:a16="http://schemas.microsoft.com/office/drawing/2014/main" id="{2089F0C1-DF53-8B79-E887-1E2887E0BE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19583" y="2533128"/>
            <a:ext cx="914400" cy="9144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0-#ppt_w/2"/>
                                          </p:val>
                                        </p:tav>
                                        <p:tav tm="100000">
                                          <p:val>
                                            <p:strVal val="#ppt_x"/>
                                          </p:val>
                                        </p:tav>
                                      </p:tavLst>
                                    </p:anim>
                                    <p:anim calcmode="lin" valueType="num">
                                      <p:cBhvr additive="base">
                                        <p:cTn id="14" dur="500" fill="hold"/>
                                        <p:tgtEl>
                                          <p:spTgt spid="21"/>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anim calcmode="lin" valueType="num">
                                      <p:cBhvr additive="base">
                                        <p:cTn id="17" dur="500" fill="hold"/>
                                        <p:tgtEl>
                                          <p:spTgt spid="31"/>
                                        </p:tgtEl>
                                        <p:attrNameLst>
                                          <p:attrName>ppt_x</p:attrName>
                                        </p:attrNameLst>
                                      </p:cBhvr>
                                      <p:tavLst>
                                        <p:tav tm="0">
                                          <p:val>
                                            <p:strVal val="0-#ppt_w/2"/>
                                          </p:val>
                                        </p:tav>
                                        <p:tav tm="100000">
                                          <p:val>
                                            <p:strVal val="#ppt_x"/>
                                          </p:val>
                                        </p:tav>
                                      </p:tavLst>
                                    </p:anim>
                                    <p:anim calcmode="lin" valueType="num">
                                      <p:cBhvr additive="base">
                                        <p:cTn id="18" dur="500" fill="hold"/>
                                        <p:tgtEl>
                                          <p:spTgt spid="31"/>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anim calcmode="lin" valueType="num">
                                      <p:cBhvr additive="base">
                                        <p:cTn id="21" dur="500" fill="hold"/>
                                        <p:tgtEl>
                                          <p:spTgt spid="41"/>
                                        </p:tgtEl>
                                        <p:attrNameLst>
                                          <p:attrName>ppt_x</p:attrName>
                                        </p:attrNameLst>
                                      </p:cBhvr>
                                      <p:tavLst>
                                        <p:tav tm="0">
                                          <p:val>
                                            <p:strVal val="0-#ppt_w/2"/>
                                          </p:val>
                                        </p:tav>
                                        <p:tav tm="100000">
                                          <p:val>
                                            <p:strVal val="#ppt_x"/>
                                          </p:val>
                                        </p:tav>
                                      </p:tavLst>
                                    </p:anim>
                                    <p:anim calcmode="lin" valueType="num">
                                      <p:cBhvr additive="base">
                                        <p:cTn id="22" dur="500" fill="hold"/>
                                        <p:tgtEl>
                                          <p:spTgt spid="41"/>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anim calcmode="lin" valueType="num">
                                      <p:cBhvr additive="base">
                                        <p:cTn id="25" dur="500" fill="hold"/>
                                        <p:tgtEl>
                                          <p:spTgt spid="51"/>
                                        </p:tgtEl>
                                        <p:attrNameLst>
                                          <p:attrName>ppt_x</p:attrName>
                                        </p:attrNameLst>
                                      </p:cBhvr>
                                      <p:tavLst>
                                        <p:tav tm="0">
                                          <p:val>
                                            <p:strVal val="0-#ppt_w/2"/>
                                          </p:val>
                                        </p:tav>
                                        <p:tav tm="100000">
                                          <p:val>
                                            <p:strVal val="#ppt_x"/>
                                          </p:val>
                                        </p:tav>
                                      </p:tavLst>
                                    </p:anim>
                                    <p:anim calcmode="lin" valueType="num">
                                      <p:cBhvr additive="base">
                                        <p:cTn id="26" dur="500" fill="hold"/>
                                        <p:tgtEl>
                                          <p:spTgt spid="51"/>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70"/>
                                        </p:tgtEl>
                                        <p:attrNameLst>
                                          <p:attrName>style.visibility</p:attrName>
                                        </p:attrNameLst>
                                      </p:cBhvr>
                                      <p:to>
                                        <p:strVal val="visible"/>
                                      </p:to>
                                    </p:set>
                                    <p:anim calcmode="lin" valueType="num">
                                      <p:cBhvr additive="base">
                                        <p:cTn id="29" dur="500" fill="hold"/>
                                        <p:tgtEl>
                                          <p:spTgt spid="70"/>
                                        </p:tgtEl>
                                        <p:attrNameLst>
                                          <p:attrName>ppt_x</p:attrName>
                                        </p:attrNameLst>
                                      </p:cBhvr>
                                      <p:tavLst>
                                        <p:tav tm="0">
                                          <p:val>
                                            <p:strVal val="0-#ppt_w/2"/>
                                          </p:val>
                                        </p:tav>
                                        <p:tav tm="100000">
                                          <p:val>
                                            <p:strVal val="#ppt_x"/>
                                          </p:val>
                                        </p:tav>
                                      </p:tavLst>
                                    </p:anim>
                                    <p:anim calcmode="lin" valueType="num">
                                      <p:cBhvr additive="base">
                                        <p:cTn id="30" dur="500" fill="hold"/>
                                        <p:tgtEl>
                                          <p:spTgt spid="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1" grpId="0" animBg="1"/>
      <p:bldP spid="41" grpId="0"/>
      <p:bldP spid="51" grpId="0"/>
      <p:bldP spid="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p:cNvSpPr txBox="1"/>
          <p:nvPr/>
        </p:nvSpPr>
        <p:spPr>
          <a:xfrm>
            <a:off x="369872" y="640000"/>
            <a:ext cx="8000000" cy="523220"/>
          </a:xfrm>
          <a:prstGeom prst="rect">
            <a:avLst/>
          </a:prstGeom>
          <a:noFill/>
        </p:spPr>
        <p:txBody>
          <a:bodyPr wrap="square" rtlCol="0">
            <a:spAutoFit/>
          </a:bodyPr>
          <a:lstStyle/>
          <a:p>
            <a:r>
              <a:rPr lang="en-IN" sz="2800" b="1" dirty="0">
                <a:solidFill>
                  <a:srgbClr val="008000"/>
                </a:solidFill>
                <a:latin typeface="IBM Plex Sans" panose="020B0503050203000203" pitchFamily="34" charset="0"/>
              </a:rPr>
              <a:t>Project Objectives</a:t>
            </a:r>
          </a:p>
        </p:txBody>
      </p:sp>
      <p:sp>
        <p:nvSpPr>
          <p:cNvPr id="9" name="Subtitle"/>
          <p:cNvSpPr txBox="1"/>
          <p:nvPr/>
        </p:nvSpPr>
        <p:spPr>
          <a:xfrm>
            <a:off x="369872" y="1130000"/>
            <a:ext cx="7900000" cy="276999"/>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What the dashboard is designed to achieve</a:t>
            </a:r>
          </a:p>
        </p:txBody>
      </p:sp>
      <p:sp>
        <p:nvSpPr>
          <p:cNvPr id="200" name="Circle200"/>
          <p:cNvSpPr/>
          <p:nvPr/>
        </p:nvSpPr>
        <p:spPr>
          <a:xfrm>
            <a:off x="369872" y="1558280"/>
            <a:ext cx="420000" cy="420000"/>
          </a:xfrm>
          <a:prstGeom prst="ellipse">
            <a:avLst/>
          </a:prstGeom>
          <a:solidFill>
            <a:srgbClr val="0532B3"/>
          </a:solidFill>
          <a:ln>
            <a:noFill/>
          </a:ln>
        </p:spPr>
        <p:txBody>
          <a:bodyPr/>
          <a:lstStyle/>
          <a:p>
            <a:endParaRPr>
              <a:latin typeface="IBM Plex Sans" panose="020B0503050203000203" pitchFamily="34" charset="0"/>
            </a:endParaRPr>
          </a:p>
        </p:txBody>
      </p:sp>
      <p:sp>
        <p:nvSpPr>
          <p:cNvPr id="300" name="Text300"/>
          <p:cNvSpPr txBox="1"/>
          <p:nvPr/>
        </p:nvSpPr>
        <p:spPr>
          <a:xfrm>
            <a:off x="369872" y="1562433"/>
            <a:ext cx="420000" cy="420000"/>
          </a:xfrm>
          <a:prstGeom prst="rect">
            <a:avLst/>
          </a:prstGeom>
          <a:noFill/>
        </p:spPr>
        <p:txBody>
          <a:bodyPr wrap="square" lIns="0" tIns="0" rIns="0" bIns="0" anchor="ctr">
            <a:normAutofit/>
          </a:bodyPr>
          <a:lstStyle/>
          <a:p>
            <a:pPr algn="ctr"/>
            <a:r>
              <a:rPr lang="en-IN" sz="1600" b="1" i="0" dirty="0">
                <a:solidFill>
                  <a:srgbClr val="FFFFFF"/>
                </a:solidFill>
                <a:latin typeface="IBM Plex Sans" panose="020B0503050203000203" pitchFamily="34" charset="0"/>
              </a:rPr>
              <a:t>1</a:t>
            </a:r>
          </a:p>
        </p:txBody>
      </p:sp>
      <p:sp>
        <p:nvSpPr>
          <p:cNvPr id="400" name="ObjText0"/>
          <p:cNvSpPr txBox="1"/>
          <p:nvPr/>
        </p:nvSpPr>
        <p:spPr>
          <a:xfrm>
            <a:off x="929872" y="1478280"/>
            <a:ext cx="7800000" cy="580000"/>
          </a:xfrm>
          <a:prstGeom prst="rect">
            <a:avLst/>
          </a:prstGeom>
          <a:noFill/>
        </p:spPr>
        <p:txBody>
          <a:bodyPr wrap="square" lIns="0" tIns="0" rIns="0" bIns="0" anchor="ctr">
            <a:normAutofit/>
          </a:bodyPr>
          <a:lstStyle/>
          <a:p>
            <a:r>
              <a:rPr lang="en-IN" sz="1300" b="1" dirty="0">
                <a:solidFill>
                  <a:srgbClr val="0532B3"/>
                </a:solidFill>
                <a:latin typeface="IBM Plex Sans" panose="020B0503050203000203" pitchFamily="34" charset="0"/>
              </a:rPr>
              <a:t>Interactive Dashboard  —  </a:t>
            </a:r>
            <a:r>
              <a:rPr lang="en-IN" sz="1300" dirty="0">
                <a:latin typeface="IBM Plex Sans" panose="020B0503050203000203" pitchFamily="34" charset="0"/>
              </a:rPr>
              <a:t>Develop an interactive Tableau dashboard for global energy analytics.</a:t>
            </a:r>
            <a:endParaRPr lang="en-IN" sz="1300" dirty="0">
              <a:solidFill>
                <a:srgbClr val="333A47"/>
              </a:solidFill>
              <a:latin typeface="IBM Plex Sans" panose="020B0503050203000203" pitchFamily="34" charset="0"/>
            </a:endParaRPr>
          </a:p>
        </p:txBody>
      </p:sp>
      <p:sp>
        <p:nvSpPr>
          <p:cNvPr id="201" name="Circle201"/>
          <p:cNvSpPr/>
          <p:nvPr/>
        </p:nvSpPr>
        <p:spPr>
          <a:xfrm>
            <a:off x="369872" y="2151750"/>
            <a:ext cx="420000" cy="420000"/>
          </a:xfrm>
          <a:prstGeom prst="ellipse">
            <a:avLst/>
          </a:prstGeom>
          <a:solidFill>
            <a:srgbClr val="0532B3"/>
          </a:solidFill>
          <a:ln>
            <a:noFill/>
          </a:ln>
        </p:spPr>
        <p:txBody>
          <a:bodyPr/>
          <a:lstStyle/>
          <a:p>
            <a:endParaRPr>
              <a:latin typeface="IBM Plex Sans" panose="020B0503050203000203" pitchFamily="34" charset="0"/>
            </a:endParaRPr>
          </a:p>
        </p:txBody>
      </p:sp>
      <p:sp>
        <p:nvSpPr>
          <p:cNvPr id="301" name="Text301"/>
          <p:cNvSpPr txBox="1"/>
          <p:nvPr/>
        </p:nvSpPr>
        <p:spPr>
          <a:xfrm>
            <a:off x="366936" y="2146560"/>
            <a:ext cx="420000" cy="420000"/>
          </a:xfrm>
          <a:prstGeom prst="rect">
            <a:avLst/>
          </a:prstGeom>
          <a:noFill/>
        </p:spPr>
        <p:txBody>
          <a:bodyPr wrap="square" lIns="0" tIns="0" rIns="0" bIns="0" anchor="ctr">
            <a:normAutofit/>
          </a:bodyPr>
          <a:lstStyle/>
          <a:p>
            <a:pPr algn="ctr"/>
            <a:r>
              <a:rPr lang="en-IN" sz="1600" b="1" i="0" dirty="0">
                <a:solidFill>
                  <a:srgbClr val="FFFFFF"/>
                </a:solidFill>
                <a:latin typeface="IBM Plex Sans" panose="020B0503050203000203" pitchFamily="34" charset="0"/>
              </a:rPr>
              <a:t>2</a:t>
            </a:r>
          </a:p>
        </p:txBody>
      </p:sp>
      <p:sp>
        <p:nvSpPr>
          <p:cNvPr id="401" name="ObjText1"/>
          <p:cNvSpPr txBox="1"/>
          <p:nvPr/>
        </p:nvSpPr>
        <p:spPr>
          <a:xfrm>
            <a:off x="929872" y="2068433"/>
            <a:ext cx="7800000" cy="580000"/>
          </a:xfrm>
          <a:prstGeom prst="rect">
            <a:avLst/>
          </a:prstGeom>
          <a:noFill/>
        </p:spPr>
        <p:txBody>
          <a:bodyPr wrap="square" lIns="0" tIns="0" rIns="0" bIns="0" anchor="ctr">
            <a:normAutofit/>
          </a:bodyPr>
          <a:lstStyle/>
          <a:p>
            <a:r>
              <a:rPr lang="en-IN" sz="1300" b="1" dirty="0">
                <a:solidFill>
                  <a:srgbClr val="0532B3"/>
                </a:solidFill>
                <a:latin typeface="IBM Plex Sans" panose="020B0503050203000203" pitchFamily="34" charset="0"/>
              </a:rPr>
              <a:t>Multi-Level Visualization  —  </a:t>
            </a:r>
            <a:r>
              <a:rPr lang="en-IN" sz="1300" dirty="0" err="1">
                <a:latin typeface="IBM Plex Sans" panose="020B0503050203000203" pitchFamily="34" charset="0"/>
              </a:rPr>
              <a:t>Analyze</a:t>
            </a:r>
            <a:r>
              <a:rPr lang="en-IN" sz="1300" dirty="0">
                <a:latin typeface="IBM Plex Sans" panose="020B0503050203000203" pitchFamily="34" charset="0"/>
              </a:rPr>
              <a:t> renewable energy adoption across countries.</a:t>
            </a:r>
            <a:endParaRPr lang="en-IN" sz="1300" dirty="0">
              <a:solidFill>
                <a:srgbClr val="333A47"/>
              </a:solidFill>
              <a:latin typeface="IBM Plex Sans" panose="020B0503050203000203" pitchFamily="34" charset="0"/>
            </a:endParaRPr>
          </a:p>
        </p:txBody>
      </p:sp>
      <p:sp>
        <p:nvSpPr>
          <p:cNvPr id="202" name="Circle202"/>
          <p:cNvSpPr/>
          <p:nvPr/>
        </p:nvSpPr>
        <p:spPr>
          <a:xfrm>
            <a:off x="369872" y="2742622"/>
            <a:ext cx="420000" cy="420000"/>
          </a:xfrm>
          <a:prstGeom prst="ellipse">
            <a:avLst/>
          </a:prstGeom>
          <a:solidFill>
            <a:srgbClr val="0532B3"/>
          </a:solidFill>
          <a:ln>
            <a:noFill/>
          </a:ln>
        </p:spPr>
        <p:txBody>
          <a:bodyPr/>
          <a:lstStyle/>
          <a:p>
            <a:endParaRPr>
              <a:latin typeface="IBM Plex Sans" panose="020B0503050203000203" pitchFamily="34" charset="0"/>
            </a:endParaRPr>
          </a:p>
        </p:txBody>
      </p:sp>
      <p:sp>
        <p:nvSpPr>
          <p:cNvPr id="302" name="Text302"/>
          <p:cNvSpPr txBox="1"/>
          <p:nvPr/>
        </p:nvSpPr>
        <p:spPr>
          <a:xfrm>
            <a:off x="366936" y="2750750"/>
            <a:ext cx="420000" cy="420000"/>
          </a:xfrm>
          <a:prstGeom prst="rect">
            <a:avLst/>
          </a:prstGeom>
          <a:noFill/>
        </p:spPr>
        <p:txBody>
          <a:bodyPr wrap="square" lIns="0" tIns="0" rIns="0" bIns="0" anchor="ctr">
            <a:normAutofit/>
          </a:bodyPr>
          <a:lstStyle/>
          <a:p>
            <a:pPr algn="ctr"/>
            <a:r>
              <a:rPr lang="en-IN" sz="1600" b="1" i="0" dirty="0">
                <a:solidFill>
                  <a:srgbClr val="FFFFFF"/>
                </a:solidFill>
                <a:latin typeface="IBM Plex Sans" panose="020B0503050203000203" pitchFamily="34" charset="0"/>
              </a:rPr>
              <a:t>3</a:t>
            </a:r>
          </a:p>
        </p:txBody>
      </p:sp>
      <p:sp>
        <p:nvSpPr>
          <p:cNvPr id="402" name="ObjText2"/>
          <p:cNvSpPr txBox="1"/>
          <p:nvPr/>
        </p:nvSpPr>
        <p:spPr>
          <a:xfrm>
            <a:off x="929872" y="2665884"/>
            <a:ext cx="7800000" cy="580000"/>
          </a:xfrm>
          <a:prstGeom prst="rect">
            <a:avLst/>
          </a:prstGeom>
          <a:noFill/>
        </p:spPr>
        <p:txBody>
          <a:bodyPr wrap="square" lIns="0" tIns="0" rIns="0" bIns="0" anchor="ctr">
            <a:normAutofit/>
          </a:bodyPr>
          <a:lstStyle/>
          <a:p>
            <a:r>
              <a:rPr lang="en-IN" sz="1300" b="1" dirty="0">
                <a:solidFill>
                  <a:srgbClr val="0532B3"/>
                </a:solidFill>
                <a:latin typeface="IBM Plex Sans" panose="020B0503050203000203" pitchFamily="34" charset="0"/>
              </a:rPr>
              <a:t>Comparative Analysis  —  </a:t>
            </a:r>
            <a:r>
              <a:rPr lang="en-IN" sz="1300" dirty="0">
                <a:latin typeface="IBM Plex Sans" panose="020B0503050203000203" pitchFamily="34" charset="0"/>
              </a:rPr>
              <a:t>Compare primary energy consumption and energy mix.</a:t>
            </a:r>
            <a:r>
              <a:rPr lang="en-IN" sz="1300" dirty="0">
                <a:solidFill>
                  <a:srgbClr val="333A47"/>
                </a:solidFill>
                <a:latin typeface="IBM Plex Sans" panose="020B0503050203000203" pitchFamily="34" charset="0"/>
              </a:rPr>
              <a:t>.</a:t>
            </a:r>
          </a:p>
        </p:txBody>
      </p:sp>
      <p:sp>
        <p:nvSpPr>
          <p:cNvPr id="203" name="Circle203"/>
          <p:cNvSpPr/>
          <p:nvPr/>
        </p:nvSpPr>
        <p:spPr>
          <a:xfrm>
            <a:off x="369872" y="3332650"/>
            <a:ext cx="420000" cy="420000"/>
          </a:xfrm>
          <a:prstGeom prst="ellipse">
            <a:avLst/>
          </a:prstGeom>
          <a:solidFill>
            <a:srgbClr val="0532B3"/>
          </a:solidFill>
          <a:ln>
            <a:noFill/>
          </a:ln>
        </p:spPr>
        <p:txBody>
          <a:bodyPr/>
          <a:lstStyle/>
          <a:p>
            <a:endParaRPr>
              <a:latin typeface="IBM Plex Sans" panose="020B0503050203000203" pitchFamily="34" charset="0"/>
            </a:endParaRPr>
          </a:p>
        </p:txBody>
      </p:sp>
      <p:sp>
        <p:nvSpPr>
          <p:cNvPr id="303" name="Text303"/>
          <p:cNvSpPr txBox="1"/>
          <p:nvPr/>
        </p:nvSpPr>
        <p:spPr>
          <a:xfrm>
            <a:off x="366936" y="3332650"/>
            <a:ext cx="420000" cy="420000"/>
          </a:xfrm>
          <a:prstGeom prst="rect">
            <a:avLst/>
          </a:prstGeom>
          <a:noFill/>
        </p:spPr>
        <p:txBody>
          <a:bodyPr wrap="square" lIns="0" tIns="0" rIns="0" bIns="0" anchor="ctr">
            <a:normAutofit/>
          </a:bodyPr>
          <a:lstStyle/>
          <a:p>
            <a:pPr algn="ctr"/>
            <a:r>
              <a:rPr lang="en-IN" sz="1600" b="1" i="0" dirty="0">
                <a:solidFill>
                  <a:srgbClr val="FFFFFF"/>
                </a:solidFill>
                <a:latin typeface="IBM Plex Sans" panose="020B0503050203000203" pitchFamily="34" charset="0"/>
              </a:rPr>
              <a:t>4</a:t>
            </a:r>
          </a:p>
        </p:txBody>
      </p:sp>
      <p:sp>
        <p:nvSpPr>
          <p:cNvPr id="403" name="ObjText3"/>
          <p:cNvSpPr txBox="1"/>
          <p:nvPr/>
        </p:nvSpPr>
        <p:spPr>
          <a:xfrm>
            <a:off x="929872" y="3252650"/>
            <a:ext cx="7800000" cy="580000"/>
          </a:xfrm>
          <a:prstGeom prst="rect">
            <a:avLst/>
          </a:prstGeom>
          <a:noFill/>
        </p:spPr>
        <p:txBody>
          <a:bodyPr wrap="square" lIns="0" tIns="0" rIns="0" bIns="0" anchor="ctr">
            <a:normAutofit/>
          </a:bodyPr>
          <a:lstStyle/>
          <a:p>
            <a:r>
              <a:rPr lang="en-IN" sz="1300" b="1" dirty="0">
                <a:solidFill>
                  <a:srgbClr val="0532B3"/>
                </a:solidFill>
                <a:latin typeface="IBM Plex Sans" panose="020B0503050203000203" pitchFamily="34" charset="0"/>
              </a:rPr>
              <a:t>Emission Study  —  </a:t>
            </a:r>
            <a:r>
              <a:rPr lang="en-IN" sz="1300" dirty="0">
                <a:latin typeface="IBM Plex Sans" panose="020B0503050203000203" pitchFamily="34" charset="0"/>
              </a:rPr>
              <a:t>Study CO₂ emissions and carbon intensity.</a:t>
            </a:r>
            <a:endParaRPr lang="en-IN" sz="1300" dirty="0">
              <a:solidFill>
                <a:srgbClr val="333A47"/>
              </a:solidFill>
              <a:latin typeface="IBM Plex Sans" panose="020B0503050203000203" pitchFamily="34" charset="0"/>
            </a:endParaRPr>
          </a:p>
        </p:txBody>
      </p:sp>
      <p:sp>
        <p:nvSpPr>
          <p:cNvPr id="204" name="Circle204"/>
          <p:cNvSpPr/>
          <p:nvPr/>
        </p:nvSpPr>
        <p:spPr>
          <a:xfrm>
            <a:off x="369872" y="3922678"/>
            <a:ext cx="420000" cy="420000"/>
          </a:xfrm>
          <a:prstGeom prst="ellipse">
            <a:avLst/>
          </a:prstGeom>
          <a:solidFill>
            <a:srgbClr val="0532B3"/>
          </a:solidFill>
          <a:ln>
            <a:noFill/>
          </a:ln>
        </p:spPr>
        <p:txBody>
          <a:bodyPr/>
          <a:lstStyle/>
          <a:p>
            <a:endParaRPr>
              <a:latin typeface="IBM Plex Sans" panose="020B0503050203000203" pitchFamily="34" charset="0"/>
            </a:endParaRPr>
          </a:p>
        </p:txBody>
      </p:sp>
      <p:sp>
        <p:nvSpPr>
          <p:cNvPr id="304" name="Text304"/>
          <p:cNvSpPr txBox="1"/>
          <p:nvPr/>
        </p:nvSpPr>
        <p:spPr>
          <a:xfrm>
            <a:off x="366936" y="3922678"/>
            <a:ext cx="420000" cy="420000"/>
          </a:xfrm>
          <a:prstGeom prst="rect">
            <a:avLst/>
          </a:prstGeom>
          <a:noFill/>
        </p:spPr>
        <p:txBody>
          <a:bodyPr wrap="square" lIns="0" tIns="0" rIns="0" bIns="0" anchor="ctr">
            <a:normAutofit/>
          </a:bodyPr>
          <a:lstStyle/>
          <a:p>
            <a:pPr algn="ctr"/>
            <a:r>
              <a:rPr lang="en-IN" sz="1600" b="1" i="0" dirty="0">
                <a:solidFill>
                  <a:srgbClr val="FFFFFF"/>
                </a:solidFill>
                <a:latin typeface="IBM Plex Sans" panose="020B0503050203000203" pitchFamily="34" charset="0"/>
              </a:rPr>
              <a:t>5</a:t>
            </a:r>
          </a:p>
        </p:txBody>
      </p:sp>
      <p:sp>
        <p:nvSpPr>
          <p:cNvPr id="404" name="ObjText4"/>
          <p:cNvSpPr txBox="1"/>
          <p:nvPr/>
        </p:nvSpPr>
        <p:spPr>
          <a:xfrm>
            <a:off x="918272" y="3839416"/>
            <a:ext cx="7800000" cy="580000"/>
          </a:xfrm>
          <a:prstGeom prst="rect">
            <a:avLst/>
          </a:prstGeom>
          <a:noFill/>
        </p:spPr>
        <p:txBody>
          <a:bodyPr wrap="square" lIns="0" tIns="0" rIns="0" bIns="0" anchor="ctr">
            <a:normAutofit/>
          </a:bodyPr>
          <a:lstStyle/>
          <a:p>
            <a:r>
              <a:rPr lang="en-IN" sz="1300" b="1" dirty="0">
                <a:solidFill>
                  <a:srgbClr val="0532B3"/>
                </a:solidFill>
                <a:latin typeface="IBM Plex Sans" panose="020B0503050203000203" pitchFamily="34" charset="0"/>
              </a:rPr>
              <a:t>Visualization  —  </a:t>
            </a:r>
            <a:r>
              <a:rPr lang="en-IN" sz="1300" dirty="0">
                <a:latin typeface="IBM Plex Sans" panose="020B0503050203000203" pitchFamily="34" charset="0"/>
              </a:rPr>
              <a:t>Visualize historical contributions to global warming.</a:t>
            </a:r>
            <a:endParaRPr lang="en-IN" sz="1300" dirty="0">
              <a:solidFill>
                <a:srgbClr val="333A47"/>
              </a:solidFill>
              <a:latin typeface="IBM Plex Sans" panose="020B0503050203000203" pitchFamily="34" charset="0"/>
            </a:endParaRPr>
          </a:p>
        </p:txBody>
      </p:sp>
      <p:pic>
        <p:nvPicPr>
          <p:cNvPr id="10" name="Picture 9"/>
          <p:cNvPicPr>
            <a:picLocks noChangeAspect="1"/>
          </p:cNvPicPr>
          <p:nvPr/>
        </p:nvPicPr>
        <p:blipFill>
          <a:blip r:embed="rId2"/>
          <a:stretch>
            <a:fillRect/>
          </a:stretch>
        </p:blipFill>
        <p:spPr>
          <a:xfrm>
            <a:off x="369872" y="165591"/>
            <a:ext cx="1009929" cy="393439"/>
          </a:xfrm>
          <a:prstGeom prst="rect">
            <a:avLst/>
          </a:prstGeom>
        </p:spPr>
      </p:pic>
      <p:pic>
        <p:nvPicPr>
          <p:cNvPr id="4" name="Picture 3"/>
          <p:cNvPicPr>
            <a:picLocks noChangeAspect="1"/>
          </p:cNvPicPr>
          <p:nvPr/>
        </p:nvPicPr>
        <p:blipFill>
          <a:blip r:embed="rId3"/>
          <a:stretch>
            <a:fillRect/>
          </a:stretch>
        </p:blipFill>
        <p:spPr>
          <a:xfrm>
            <a:off x="7979377" y="165591"/>
            <a:ext cx="796529" cy="705085"/>
          </a:xfrm>
          <a:prstGeom prst="rect">
            <a:avLst/>
          </a:prstGeom>
        </p:spPr>
      </p:pic>
      <p:sp>
        <p:nvSpPr>
          <p:cNvPr id="12" name="Circle200">
            <a:extLst>
              <a:ext uri="{FF2B5EF4-FFF2-40B4-BE49-F238E27FC236}">
                <a16:creationId xmlns:a16="http://schemas.microsoft.com/office/drawing/2014/main" id="{587EAB6E-903C-0561-93EF-97033410D0EA}"/>
              </a:ext>
            </a:extLst>
          </p:cNvPr>
          <p:cNvSpPr/>
          <p:nvPr/>
        </p:nvSpPr>
        <p:spPr>
          <a:xfrm>
            <a:off x="369872" y="4515111"/>
            <a:ext cx="420000" cy="420000"/>
          </a:xfrm>
          <a:prstGeom prst="ellipse">
            <a:avLst/>
          </a:prstGeom>
          <a:solidFill>
            <a:srgbClr val="0532B3"/>
          </a:solidFill>
          <a:ln>
            <a:noFill/>
          </a:ln>
        </p:spPr>
        <p:txBody>
          <a:bodyPr/>
          <a:lstStyle/>
          <a:p>
            <a:endParaRPr>
              <a:latin typeface="IBM Plex Sans" panose="020B0503050203000203" pitchFamily="34" charset="0"/>
            </a:endParaRPr>
          </a:p>
        </p:txBody>
      </p:sp>
      <p:sp>
        <p:nvSpPr>
          <p:cNvPr id="14" name="Text304">
            <a:extLst>
              <a:ext uri="{FF2B5EF4-FFF2-40B4-BE49-F238E27FC236}">
                <a16:creationId xmlns:a16="http://schemas.microsoft.com/office/drawing/2014/main" id="{40436714-6079-5A18-ABC9-6AD74B34B0C6}"/>
              </a:ext>
            </a:extLst>
          </p:cNvPr>
          <p:cNvSpPr txBox="1"/>
          <p:nvPr/>
        </p:nvSpPr>
        <p:spPr>
          <a:xfrm>
            <a:off x="366936" y="4515111"/>
            <a:ext cx="420000" cy="420000"/>
          </a:xfrm>
          <a:prstGeom prst="rect">
            <a:avLst/>
          </a:prstGeom>
          <a:noFill/>
        </p:spPr>
        <p:txBody>
          <a:bodyPr wrap="square" lIns="0" tIns="0" rIns="0" bIns="0" anchor="ctr">
            <a:normAutofit/>
          </a:bodyPr>
          <a:lstStyle/>
          <a:p>
            <a:pPr algn="ctr"/>
            <a:r>
              <a:rPr lang="en-US" sz="1600" b="1" dirty="0">
                <a:solidFill>
                  <a:srgbClr val="FFFFFF"/>
                </a:solidFill>
                <a:latin typeface="IBM Plex Sans" panose="020B0503050203000203" pitchFamily="34" charset="0"/>
              </a:rPr>
              <a:t>6</a:t>
            </a:r>
            <a:endParaRPr lang="en-IN" sz="1600" b="1" i="0" dirty="0">
              <a:solidFill>
                <a:srgbClr val="FFFFFF"/>
              </a:solidFill>
              <a:latin typeface="IBM Plex Sans" panose="020B0503050203000203" pitchFamily="34" charset="0"/>
            </a:endParaRPr>
          </a:p>
        </p:txBody>
      </p:sp>
      <p:sp>
        <p:nvSpPr>
          <p:cNvPr id="16" name="ObjText4">
            <a:extLst>
              <a:ext uri="{FF2B5EF4-FFF2-40B4-BE49-F238E27FC236}">
                <a16:creationId xmlns:a16="http://schemas.microsoft.com/office/drawing/2014/main" id="{65371C45-F4D5-1F25-0085-0581922BF2EA}"/>
              </a:ext>
            </a:extLst>
          </p:cNvPr>
          <p:cNvSpPr txBox="1"/>
          <p:nvPr/>
        </p:nvSpPr>
        <p:spPr>
          <a:xfrm>
            <a:off x="929872" y="4431030"/>
            <a:ext cx="7800000" cy="580000"/>
          </a:xfrm>
          <a:prstGeom prst="rect">
            <a:avLst/>
          </a:prstGeom>
          <a:noFill/>
        </p:spPr>
        <p:txBody>
          <a:bodyPr wrap="square" lIns="0" tIns="0" rIns="0" bIns="0" anchor="ctr">
            <a:normAutofit/>
          </a:bodyPr>
          <a:lstStyle/>
          <a:p>
            <a:r>
              <a:rPr lang="en-IN" sz="1300" b="1" dirty="0">
                <a:solidFill>
                  <a:srgbClr val="0532B3"/>
                </a:solidFill>
                <a:latin typeface="IBM Plex Sans" panose="020B0503050203000203" pitchFamily="34" charset="0"/>
              </a:rPr>
              <a:t>Navigation and Filter  —  </a:t>
            </a:r>
            <a:r>
              <a:rPr lang="en-IN" sz="1300" dirty="0">
                <a:latin typeface="IBM Plex Sans" panose="020B0503050203000203" pitchFamily="34" charset="0"/>
              </a:rPr>
              <a:t>Enable interactive exploration through filters and dashboard navigation.</a:t>
            </a:r>
            <a:endParaRPr lang="en-IN" sz="1300" dirty="0">
              <a:solidFill>
                <a:srgbClr val="333A47"/>
              </a:solidFill>
              <a:latin typeface="IBM Plex Sans" panose="020B0503050203000203"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p:cNvSpPr txBox="1"/>
          <p:nvPr/>
        </p:nvSpPr>
        <p:spPr>
          <a:xfrm>
            <a:off x="368983" y="640000"/>
            <a:ext cx="8000000" cy="523220"/>
          </a:xfrm>
          <a:prstGeom prst="rect">
            <a:avLst/>
          </a:prstGeom>
          <a:noFill/>
        </p:spPr>
        <p:txBody>
          <a:bodyPr wrap="square" rtlCol="0">
            <a:spAutoFit/>
          </a:bodyPr>
          <a:lstStyle/>
          <a:p>
            <a:r>
              <a:rPr lang="en-IN" sz="2800" b="1" dirty="0">
                <a:solidFill>
                  <a:srgbClr val="008000"/>
                </a:solidFill>
                <a:latin typeface="IBM Plex Sans SemiBold" panose="020B0503050203000203" pitchFamily="34" charset="0"/>
              </a:rPr>
              <a:t>Dataset Description</a:t>
            </a:r>
          </a:p>
        </p:txBody>
      </p:sp>
      <p:pic>
        <p:nvPicPr>
          <p:cNvPr id="10" name="Picture 9"/>
          <p:cNvPicPr>
            <a:picLocks noChangeAspect="1"/>
          </p:cNvPicPr>
          <p:nvPr/>
        </p:nvPicPr>
        <p:blipFill>
          <a:blip r:embed="rId2"/>
          <a:stretch>
            <a:fillRect/>
          </a:stretch>
        </p:blipFill>
        <p:spPr>
          <a:xfrm>
            <a:off x="368983" y="165591"/>
            <a:ext cx="1009929" cy="393439"/>
          </a:xfrm>
          <a:prstGeom prst="rect">
            <a:avLst/>
          </a:prstGeom>
        </p:spPr>
      </p:pic>
      <p:pic>
        <p:nvPicPr>
          <p:cNvPr id="4" name="Picture 3"/>
          <p:cNvPicPr>
            <a:picLocks noChangeAspect="1"/>
          </p:cNvPicPr>
          <p:nvPr/>
        </p:nvPicPr>
        <p:blipFill>
          <a:blip r:embed="rId3"/>
          <a:stretch>
            <a:fillRect/>
          </a:stretch>
        </p:blipFill>
        <p:spPr>
          <a:xfrm>
            <a:off x="7978488" y="165591"/>
            <a:ext cx="796529" cy="705085"/>
          </a:xfrm>
          <a:prstGeom prst="rect">
            <a:avLst/>
          </a:prstGeom>
        </p:spPr>
      </p:pic>
      <p:sp>
        <p:nvSpPr>
          <p:cNvPr id="2" name="TextBox 1">
            <a:extLst>
              <a:ext uri="{FF2B5EF4-FFF2-40B4-BE49-F238E27FC236}">
                <a16:creationId xmlns:a16="http://schemas.microsoft.com/office/drawing/2014/main" id="{5310CE2A-3146-1584-C3C3-9DD48255019C}"/>
              </a:ext>
            </a:extLst>
          </p:cNvPr>
          <p:cNvSpPr txBox="1"/>
          <p:nvPr/>
        </p:nvSpPr>
        <p:spPr>
          <a:xfrm>
            <a:off x="368983" y="1163220"/>
            <a:ext cx="3291575" cy="553998"/>
          </a:xfrm>
          <a:prstGeom prst="rect">
            <a:avLst/>
          </a:prstGeom>
          <a:noFill/>
        </p:spPr>
        <p:txBody>
          <a:bodyPr wrap="square" rtlCol="0">
            <a:spAutoFit/>
          </a:bodyPr>
          <a:lstStyle/>
          <a:p>
            <a:r>
              <a:rPr lang="en-US" sz="1600" b="1" dirty="0">
                <a:solidFill>
                  <a:schemeClr val="tx1">
                    <a:lumMod val="75000"/>
                    <a:lumOff val="25000"/>
                  </a:schemeClr>
                </a:solidFill>
              </a:rPr>
              <a:t>Source: </a:t>
            </a:r>
            <a:r>
              <a:rPr lang="en-US" dirty="0"/>
              <a:t>Our World in Data </a:t>
            </a:r>
          </a:p>
          <a:p>
            <a:r>
              <a:rPr lang="en-IN" dirty="0"/>
              <a:t>(Energy &amp; CO₂ Database (2000–2024))</a:t>
            </a:r>
            <a:endParaRPr lang="en-US" dirty="0"/>
          </a:p>
        </p:txBody>
      </p:sp>
      <p:pic>
        <p:nvPicPr>
          <p:cNvPr id="6" name="Picture 5">
            <a:extLst>
              <a:ext uri="{FF2B5EF4-FFF2-40B4-BE49-F238E27FC236}">
                <a16:creationId xmlns:a16="http://schemas.microsoft.com/office/drawing/2014/main" id="{C4C649CE-CC7B-1B12-CEB6-D8DB8CE50BD7}"/>
              </a:ext>
            </a:extLst>
          </p:cNvPr>
          <p:cNvPicPr>
            <a:picLocks noChangeAspect="1"/>
          </p:cNvPicPr>
          <p:nvPr/>
        </p:nvPicPr>
        <p:blipFill>
          <a:blip r:embed="rId4"/>
          <a:stretch>
            <a:fillRect/>
          </a:stretch>
        </p:blipFill>
        <p:spPr>
          <a:xfrm>
            <a:off x="4058355" y="640000"/>
            <a:ext cx="1027289" cy="523220"/>
          </a:xfrm>
          <a:prstGeom prst="rect">
            <a:avLst/>
          </a:prstGeom>
        </p:spPr>
      </p:pic>
      <p:pic>
        <p:nvPicPr>
          <p:cNvPr id="11" name="Graphic 10" descr="Database with solid fill">
            <a:extLst>
              <a:ext uri="{FF2B5EF4-FFF2-40B4-BE49-F238E27FC236}">
                <a16:creationId xmlns:a16="http://schemas.microsoft.com/office/drawing/2014/main" id="{6F360500-0A17-F89C-D278-8C6D2B7ED18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55713" y="1044574"/>
            <a:ext cx="762865" cy="762865"/>
          </a:xfrm>
          <a:prstGeom prst="rect">
            <a:avLst/>
          </a:prstGeom>
        </p:spPr>
      </p:pic>
      <p:pic>
        <p:nvPicPr>
          <p:cNvPr id="13" name="Graphic 12" descr="Database with solid fill">
            <a:extLst>
              <a:ext uri="{FF2B5EF4-FFF2-40B4-BE49-F238E27FC236}">
                <a16:creationId xmlns:a16="http://schemas.microsoft.com/office/drawing/2014/main" id="{19E808FD-7A47-E897-2E1B-00C793F2EC6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20088" y="1044574"/>
            <a:ext cx="762865" cy="762865"/>
          </a:xfrm>
          <a:prstGeom prst="rect">
            <a:avLst/>
          </a:prstGeom>
        </p:spPr>
      </p:pic>
      <p:pic>
        <p:nvPicPr>
          <p:cNvPr id="15" name="Graphic 14" descr="Database with solid fill">
            <a:extLst>
              <a:ext uri="{FF2B5EF4-FFF2-40B4-BE49-F238E27FC236}">
                <a16:creationId xmlns:a16="http://schemas.microsoft.com/office/drawing/2014/main" id="{1EB437C9-9B93-2249-ADB5-478DE5272AC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62133" y="2774721"/>
            <a:ext cx="914400" cy="914400"/>
          </a:xfrm>
          <a:prstGeom prst="rect">
            <a:avLst/>
          </a:prstGeom>
        </p:spPr>
      </p:pic>
      <p:sp>
        <p:nvSpPr>
          <p:cNvPr id="16" name="TextBox 15">
            <a:extLst>
              <a:ext uri="{FF2B5EF4-FFF2-40B4-BE49-F238E27FC236}">
                <a16:creationId xmlns:a16="http://schemas.microsoft.com/office/drawing/2014/main" id="{57AFBA89-3925-B128-5BDD-20134E515C8A}"/>
              </a:ext>
            </a:extLst>
          </p:cNvPr>
          <p:cNvSpPr txBox="1"/>
          <p:nvPr/>
        </p:nvSpPr>
        <p:spPr>
          <a:xfrm>
            <a:off x="5115821" y="1805185"/>
            <a:ext cx="1242648" cy="276999"/>
          </a:xfrm>
          <a:prstGeom prst="rect">
            <a:avLst/>
          </a:prstGeom>
          <a:noFill/>
        </p:spPr>
        <p:txBody>
          <a:bodyPr wrap="none" rtlCol="0">
            <a:spAutoFit/>
          </a:bodyPr>
          <a:lstStyle/>
          <a:p>
            <a:r>
              <a:rPr lang="en-US" sz="1200" dirty="0"/>
              <a:t>Energy Dataset</a:t>
            </a:r>
            <a:endParaRPr lang="en-IN" sz="1200" dirty="0"/>
          </a:p>
        </p:txBody>
      </p:sp>
      <p:sp>
        <p:nvSpPr>
          <p:cNvPr id="18" name="TextBox 17">
            <a:extLst>
              <a:ext uri="{FF2B5EF4-FFF2-40B4-BE49-F238E27FC236}">
                <a16:creationId xmlns:a16="http://schemas.microsoft.com/office/drawing/2014/main" id="{8D1BD02B-37C7-49AE-1960-20FBD7CEC5C6}"/>
              </a:ext>
            </a:extLst>
          </p:cNvPr>
          <p:cNvSpPr txBox="1"/>
          <p:nvPr/>
        </p:nvSpPr>
        <p:spPr>
          <a:xfrm>
            <a:off x="6765155" y="1805185"/>
            <a:ext cx="1072730" cy="276999"/>
          </a:xfrm>
          <a:prstGeom prst="rect">
            <a:avLst/>
          </a:prstGeom>
          <a:noFill/>
        </p:spPr>
        <p:txBody>
          <a:bodyPr wrap="none" rtlCol="0">
            <a:spAutoFit/>
          </a:bodyPr>
          <a:lstStyle/>
          <a:p>
            <a:r>
              <a:rPr lang="en-US" sz="1200" dirty="0"/>
              <a:t>CO2 Dataset</a:t>
            </a:r>
            <a:endParaRPr lang="en-IN" sz="1200" dirty="0"/>
          </a:p>
        </p:txBody>
      </p:sp>
      <p:pic>
        <p:nvPicPr>
          <p:cNvPr id="23" name="Graphic 22" descr="Back with solid fill">
            <a:extLst>
              <a:ext uri="{FF2B5EF4-FFF2-40B4-BE49-F238E27FC236}">
                <a16:creationId xmlns:a16="http://schemas.microsoft.com/office/drawing/2014/main" id="{4C922FFD-29E5-2973-EEE2-23C0FFAFBF0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3200000">
            <a:off x="5279945" y="2114551"/>
            <a:ext cx="914400" cy="914400"/>
          </a:xfrm>
          <a:prstGeom prst="rect">
            <a:avLst/>
          </a:prstGeom>
        </p:spPr>
      </p:pic>
      <p:pic>
        <p:nvPicPr>
          <p:cNvPr id="25" name="Graphic 24" descr="Back with solid fill">
            <a:extLst>
              <a:ext uri="{FF2B5EF4-FFF2-40B4-BE49-F238E27FC236}">
                <a16:creationId xmlns:a16="http://schemas.microsoft.com/office/drawing/2014/main" id="{52BFB1EF-76DC-DA9C-6E5D-339A00B547E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8400000">
            <a:off x="6844320" y="2130602"/>
            <a:ext cx="914400" cy="914400"/>
          </a:xfrm>
          <a:prstGeom prst="rect">
            <a:avLst/>
          </a:prstGeom>
        </p:spPr>
      </p:pic>
      <p:sp>
        <p:nvSpPr>
          <p:cNvPr id="27" name="TextBox 26">
            <a:extLst>
              <a:ext uri="{FF2B5EF4-FFF2-40B4-BE49-F238E27FC236}">
                <a16:creationId xmlns:a16="http://schemas.microsoft.com/office/drawing/2014/main" id="{2161B3F9-142C-5E88-A6F8-EE7084008033}"/>
              </a:ext>
            </a:extLst>
          </p:cNvPr>
          <p:cNvSpPr txBox="1"/>
          <p:nvPr/>
        </p:nvSpPr>
        <p:spPr>
          <a:xfrm>
            <a:off x="7061629" y="3091166"/>
            <a:ext cx="1822935" cy="276999"/>
          </a:xfrm>
          <a:prstGeom prst="rect">
            <a:avLst/>
          </a:prstGeom>
          <a:noFill/>
        </p:spPr>
        <p:txBody>
          <a:bodyPr wrap="none" rtlCol="0">
            <a:spAutoFit/>
          </a:bodyPr>
          <a:lstStyle/>
          <a:p>
            <a:r>
              <a:rPr lang="en-US" sz="1200" dirty="0"/>
              <a:t>Final Integrated Dataset</a:t>
            </a:r>
            <a:endParaRPr lang="en-IN" sz="1200" dirty="0"/>
          </a:p>
        </p:txBody>
      </p:sp>
      <p:sp>
        <p:nvSpPr>
          <p:cNvPr id="28" name="Rectangle 27">
            <a:extLst>
              <a:ext uri="{FF2B5EF4-FFF2-40B4-BE49-F238E27FC236}">
                <a16:creationId xmlns:a16="http://schemas.microsoft.com/office/drawing/2014/main" id="{C2AC3FE2-F980-A7C1-2563-634B6076F6DE}"/>
              </a:ext>
            </a:extLst>
          </p:cNvPr>
          <p:cNvSpPr/>
          <p:nvPr/>
        </p:nvSpPr>
        <p:spPr>
          <a:xfrm>
            <a:off x="6221815" y="964341"/>
            <a:ext cx="595035" cy="923330"/>
          </a:xfrm>
          <a:prstGeom prst="rect">
            <a:avLst/>
          </a:prstGeom>
          <a:noFill/>
        </p:spPr>
        <p:txBody>
          <a:bodyPr wrap="none" lIns="91440" tIns="45720" rIns="91440" bIns="45720">
            <a:spAutoFit/>
          </a:bodyPr>
          <a:lstStyle/>
          <a:p>
            <a:pPr algn="ctr"/>
            <a:r>
              <a:rPr lang="en-US" sz="5400" b="1" cap="none" spc="50" dirty="0">
                <a:ln w="0"/>
                <a:solidFill>
                  <a:schemeClr val="bg2"/>
                </a:solidFill>
                <a:effectLst>
                  <a:innerShdw blurRad="63500" dist="50800" dir="13500000">
                    <a:srgbClr val="000000">
                      <a:alpha val="50000"/>
                    </a:srgbClr>
                  </a:innerShdw>
                </a:effectLst>
              </a:rPr>
              <a:t>+</a:t>
            </a:r>
          </a:p>
        </p:txBody>
      </p:sp>
      <p:sp>
        <p:nvSpPr>
          <p:cNvPr id="29" name="TextBox 28">
            <a:extLst>
              <a:ext uri="{FF2B5EF4-FFF2-40B4-BE49-F238E27FC236}">
                <a16:creationId xmlns:a16="http://schemas.microsoft.com/office/drawing/2014/main" id="{3F4D1A0A-FA69-E0E7-247B-35C3DE3CAD7D}"/>
              </a:ext>
            </a:extLst>
          </p:cNvPr>
          <p:cNvSpPr txBox="1"/>
          <p:nvPr/>
        </p:nvSpPr>
        <p:spPr>
          <a:xfrm>
            <a:off x="6105597" y="2372027"/>
            <a:ext cx="827471" cy="276999"/>
          </a:xfrm>
          <a:prstGeom prst="rect">
            <a:avLst/>
          </a:prstGeom>
          <a:noFill/>
        </p:spPr>
        <p:txBody>
          <a:bodyPr wrap="none" rtlCol="0">
            <a:spAutoFit/>
          </a:bodyPr>
          <a:lstStyle/>
          <a:p>
            <a:r>
              <a:rPr lang="en-US" sz="1200" b="1" dirty="0">
                <a:solidFill>
                  <a:schemeClr val="bg2">
                    <a:lumMod val="75000"/>
                  </a:schemeClr>
                </a:solidFill>
              </a:rPr>
              <a:t>Left Join</a:t>
            </a:r>
            <a:endParaRPr lang="en-IN" sz="1200" b="1" dirty="0">
              <a:solidFill>
                <a:schemeClr val="bg2">
                  <a:lumMod val="75000"/>
                </a:schemeClr>
              </a:solidFill>
            </a:endParaRPr>
          </a:p>
        </p:txBody>
      </p:sp>
      <p:graphicFrame>
        <p:nvGraphicFramePr>
          <p:cNvPr id="31" name="Diagram 30">
            <a:extLst>
              <a:ext uri="{FF2B5EF4-FFF2-40B4-BE49-F238E27FC236}">
                <a16:creationId xmlns:a16="http://schemas.microsoft.com/office/drawing/2014/main" id="{D8A5CECB-4E02-3CE2-8B00-5592E3082913}"/>
              </a:ext>
            </a:extLst>
          </p:cNvPr>
          <p:cNvGraphicFramePr/>
          <p:nvPr>
            <p:extLst>
              <p:ext uri="{D42A27DB-BD31-4B8C-83A1-F6EECF244321}">
                <p14:modId xmlns:p14="http://schemas.microsoft.com/office/powerpoint/2010/main" val="3625896871"/>
              </p:ext>
            </p:extLst>
          </p:nvPr>
        </p:nvGraphicFramePr>
        <p:xfrm>
          <a:off x="368983" y="2185988"/>
          <a:ext cx="4986730" cy="3149371"/>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32" name="TextBox 31">
            <a:extLst>
              <a:ext uri="{FF2B5EF4-FFF2-40B4-BE49-F238E27FC236}">
                <a16:creationId xmlns:a16="http://schemas.microsoft.com/office/drawing/2014/main" id="{41C0BF40-52FF-14B0-CEA3-95BDE3E9412A}"/>
              </a:ext>
            </a:extLst>
          </p:cNvPr>
          <p:cNvSpPr txBox="1"/>
          <p:nvPr/>
        </p:nvSpPr>
        <p:spPr>
          <a:xfrm>
            <a:off x="368983" y="2090705"/>
            <a:ext cx="1697901" cy="369332"/>
          </a:xfrm>
          <a:prstGeom prst="rect">
            <a:avLst/>
          </a:prstGeom>
          <a:noFill/>
        </p:spPr>
        <p:txBody>
          <a:bodyPr wrap="none" rtlCol="0">
            <a:spAutoFit/>
          </a:bodyPr>
          <a:lstStyle/>
          <a:p>
            <a:r>
              <a:rPr lang="en-US" sz="1800" b="1" u="sng" dirty="0">
                <a:solidFill>
                  <a:srgbClr val="002060"/>
                </a:solidFill>
              </a:rPr>
              <a:t>Key Variables</a:t>
            </a:r>
            <a:endParaRPr lang="en-IN" sz="1800" b="1" u="sng" dirty="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53" presetClass="entr" presetSubtype="16" fill="hold" nodeType="withEffect">
                                  <p:stCondLst>
                                    <p:cond delay="0"/>
                                  </p:stCondLst>
                                  <p:childTnLst>
                                    <p:set>
                                      <p:cBhvr>
                                        <p:cTn id="11" dur="1" fill="hold">
                                          <p:stCondLst>
                                            <p:cond delay="0"/>
                                          </p:stCondLst>
                                        </p:cTn>
                                        <p:tgtEl>
                                          <p:spTgt spid="23"/>
                                        </p:tgtEl>
                                        <p:attrNameLst>
                                          <p:attrName>style.visibility</p:attrName>
                                        </p:attrNameLst>
                                      </p:cBhvr>
                                      <p:to>
                                        <p:strVal val="visible"/>
                                      </p:to>
                                    </p:set>
                                    <p:anim calcmode="lin" valueType="num">
                                      <p:cBhvr>
                                        <p:cTn id="12" dur="500" fill="hold"/>
                                        <p:tgtEl>
                                          <p:spTgt spid="23"/>
                                        </p:tgtEl>
                                        <p:attrNameLst>
                                          <p:attrName>ppt_w</p:attrName>
                                        </p:attrNameLst>
                                      </p:cBhvr>
                                      <p:tavLst>
                                        <p:tav tm="0">
                                          <p:val>
                                            <p:fltVal val="0"/>
                                          </p:val>
                                        </p:tav>
                                        <p:tav tm="100000">
                                          <p:val>
                                            <p:strVal val="#ppt_w"/>
                                          </p:val>
                                        </p:tav>
                                      </p:tavLst>
                                    </p:anim>
                                    <p:anim calcmode="lin" valueType="num">
                                      <p:cBhvr>
                                        <p:cTn id="13" dur="500" fill="hold"/>
                                        <p:tgtEl>
                                          <p:spTgt spid="23"/>
                                        </p:tgtEl>
                                        <p:attrNameLst>
                                          <p:attrName>ppt_h</p:attrName>
                                        </p:attrNameLst>
                                      </p:cBhvr>
                                      <p:tavLst>
                                        <p:tav tm="0">
                                          <p:val>
                                            <p:fltVal val="0"/>
                                          </p:val>
                                        </p:tav>
                                        <p:tav tm="100000">
                                          <p:val>
                                            <p:strVal val="#ppt_h"/>
                                          </p:val>
                                        </p:tav>
                                      </p:tavLst>
                                    </p:anim>
                                    <p:animEffect transition="in" filter="fade">
                                      <p:cBhvr>
                                        <p:cTn id="14" dur="500"/>
                                        <p:tgtEl>
                                          <p:spTgt spid="23"/>
                                        </p:tgtEl>
                                      </p:cBhvr>
                                    </p:animEffect>
                                  </p:childTnLst>
                                </p:cTn>
                              </p:par>
                              <p:par>
                                <p:cTn id="15" presetID="53" presetClass="entr" presetSubtype="16"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500" fill="hold"/>
                                        <p:tgtEl>
                                          <p:spTgt spid="25"/>
                                        </p:tgtEl>
                                        <p:attrNameLst>
                                          <p:attrName>ppt_w</p:attrName>
                                        </p:attrNameLst>
                                      </p:cBhvr>
                                      <p:tavLst>
                                        <p:tav tm="0">
                                          <p:val>
                                            <p:fltVal val="0"/>
                                          </p:val>
                                        </p:tav>
                                        <p:tav tm="100000">
                                          <p:val>
                                            <p:strVal val="#ppt_w"/>
                                          </p:val>
                                        </p:tav>
                                      </p:tavLst>
                                    </p:anim>
                                    <p:anim calcmode="lin" valueType="num">
                                      <p:cBhvr>
                                        <p:cTn id="18" dur="500" fill="hold"/>
                                        <p:tgtEl>
                                          <p:spTgt spid="25"/>
                                        </p:tgtEl>
                                        <p:attrNameLst>
                                          <p:attrName>ppt_h</p:attrName>
                                        </p:attrNameLst>
                                      </p:cBhvr>
                                      <p:tavLst>
                                        <p:tav tm="0">
                                          <p:val>
                                            <p:fltVal val="0"/>
                                          </p:val>
                                        </p:tav>
                                        <p:tav tm="100000">
                                          <p:val>
                                            <p:strVal val="#ppt_h"/>
                                          </p:val>
                                        </p:tav>
                                      </p:tavLst>
                                    </p:anim>
                                    <p:animEffect transition="in" filter="fade">
                                      <p:cBhvr>
                                        <p:cTn id="19" dur="500"/>
                                        <p:tgtEl>
                                          <p:spTgt spid="2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 calcmode="lin" valueType="num">
                                      <p:cBhvr>
                                        <p:cTn id="22" dur="500" fill="hold"/>
                                        <p:tgtEl>
                                          <p:spTgt spid="27"/>
                                        </p:tgtEl>
                                        <p:attrNameLst>
                                          <p:attrName>ppt_w</p:attrName>
                                        </p:attrNameLst>
                                      </p:cBhvr>
                                      <p:tavLst>
                                        <p:tav tm="0">
                                          <p:val>
                                            <p:fltVal val="0"/>
                                          </p:val>
                                        </p:tav>
                                        <p:tav tm="100000">
                                          <p:val>
                                            <p:strVal val="#ppt_w"/>
                                          </p:val>
                                        </p:tav>
                                      </p:tavLst>
                                    </p:anim>
                                    <p:anim calcmode="lin" valueType="num">
                                      <p:cBhvr>
                                        <p:cTn id="23" dur="500" fill="hold"/>
                                        <p:tgtEl>
                                          <p:spTgt spid="27"/>
                                        </p:tgtEl>
                                        <p:attrNameLst>
                                          <p:attrName>ppt_h</p:attrName>
                                        </p:attrNameLst>
                                      </p:cBhvr>
                                      <p:tavLst>
                                        <p:tav tm="0">
                                          <p:val>
                                            <p:fltVal val="0"/>
                                          </p:val>
                                        </p:tav>
                                        <p:tav tm="100000">
                                          <p:val>
                                            <p:strVal val="#ppt_h"/>
                                          </p:val>
                                        </p:tav>
                                      </p:tavLst>
                                    </p:anim>
                                    <p:animEffect transition="in" filter="fade">
                                      <p:cBhvr>
                                        <p:cTn id="24" dur="500"/>
                                        <p:tgtEl>
                                          <p:spTgt spid="2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p:cTn id="27" dur="500" fill="hold"/>
                                        <p:tgtEl>
                                          <p:spTgt spid="29"/>
                                        </p:tgtEl>
                                        <p:attrNameLst>
                                          <p:attrName>ppt_w</p:attrName>
                                        </p:attrNameLst>
                                      </p:cBhvr>
                                      <p:tavLst>
                                        <p:tav tm="0">
                                          <p:val>
                                            <p:fltVal val="0"/>
                                          </p:val>
                                        </p:tav>
                                        <p:tav tm="100000">
                                          <p:val>
                                            <p:strVal val="#ppt_w"/>
                                          </p:val>
                                        </p:tav>
                                      </p:tavLst>
                                    </p:anim>
                                    <p:anim calcmode="lin" valueType="num">
                                      <p:cBhvr>
                                        <p:cTn id="28" dur="500" fill="hold"/>
                                        <p:tgtEl>
                                          <p:spTgt spid="29"/>
                                        </p:tgtEl>
                                        <p:attrNameLst>
                                          <p:attrName>ppt_h</p:attrName>
                                        </p:attrNameLst>
                                      </p:cBhvr>
                                      <p:tavLst>
                                        <p:tav tm="0">
                                          <p:val>
                                            <p:fltVal val="0"/>
                                          </p:val>
                                        </p:tav>
                                        <p:tav tm="100000">
                                          <p:val>
                                            <p:strVal val="#ppt_h"/>
                                          </p:val>
                                        </p:tav>
                                      </p:tavLst>
                                    </p:anim>
                                    <p:animEffect transition="in" filter="fade">
                                      <p:cBhvr>
                                        <p:cTn id="2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C5B5B-1203-587D-D21D-DAF7CAC01DD9}"/>
            </a:ext>
          </a:extLst>
        </p:cNvPr>
        <p:cNvGrpSpPr/>
        <p:nvPr/>
      </p:nvGrpSpPr>
      <p:grpSpPr>
        <a:xfrm>
          <a:off x="0" y="0"/>
          <a:ext cx="0" cy="0"/>
          <a:chOff x="0" y="0"/>
          <a:chExt cx="0" cy="0"/>
        </a:xfrm>
      </p:grpSpPr>
      <p:sp>
        <p:nvSpPr>
          <p:cNvPr id="8" name="Title">
            <a:extLst>
              <a:ext uri="{FF2B5EF4-FFF2-40B4-BE49-F238E27FC236}">
                <a16:creationId xmlns:a16="http://schemas.microsoft.com/office/drawing/2014/main" id="{01F9D773-3101-103F-5F45-92233993314A}"/>
              </a:ext>
            </a:extLst>
          </p:cNvPr>
          <p:cNvSpPr txBox="1"/>
          <p:nvPr/>
        </p:nvSpPr>
        <p:spPr>
          <a:xfrm>
            <a:off x="368983" y="640000"/>
            <a:ext cx="8000000" cy="523220"/>
          </a:xfrm>
          <a:prstGeom prst="rect">
            <a:avLst/>
          </a:prstGeom>
          <a:noFill/>
        </p:spPr>
        <p:txBody>
          <a:bodyPr wrap="square" rtlCol="0">
            <a:spAutoFit/>
          </a:bodyPr>
          <a:lstStyle/>
          <a:p>
            <a:r>
              <a:rPr lang="en-IN" sz="2800" b="1" dirty="0">
                <a:solidFill>
                  <a:srgbClr val="008000"/>
                </a:solidFill>
                <a:latin typeface="IBM Plex Sans" panose="020B0503050203000203" pitchFamily="34" charset="0"/>
              </a:rPr>
              <a:t>Dashboard Features</a:t>
            </a:r>
          </a:p>
        </p:txBody>
      </p:sp>
      <p:pic>
        <p:nvPicPr>
          <p:cNvPr id="10" name="Picture 9">
            <a:extLst>
              <a:ext uri="{FF2B5EF4-FFF2-40B4-BE49-F238E27FC236}">
                <a16:creationId xmlns:a16="http://schemas.microsoft.com/office/drawing/2014/main" id="{83B254D7-C37B-1555-9EF8-CD9B04E713BF}"/>
              </a:ext>
            </a:extLst>
          </p:cNvPr>
          <p:cNvPicPr>
            <a:picLocks noChangeAspect="1"/>
          </p:cNvPicPr>
          <p:nvPr/>
        </p:nvPicPr>
        <p:blipFill>
          <a:blip r:embed="rId2"/>
          <a:stretch>
            <a:fillRect/>
          </a:stretch>
        </p:blipFill>
        <p:spPr>
          <a:xfrm>
            <a:off x="368983" y="165591"/>
            <a:ext cx="1009929" cy="393439"/>
          </a:xfrm>
          <a:prstGeom prst="rect">
            <a:avLst/>
          </a:prstGeom>
        </p:spPr>
      </p:pic>
      <p:pic>
        <p:nvPicPr>
          <p:cNvPr id="4" name="Picture 3">
            <a:extLst>
              <a:ext uri="{FF2B5EF4-FFF2-40B4-BE49-F238E27FC236}">
                <a16:creationId xmlns:a16="http://schemas.microsoft.com/office/drawing/2014/main" id="{87A709BD-9C94-DB93-72E5-1464420FA8C6}"/>
              </a:ext>
            </a:extLst>
          </p:cNvPr>
          <p:cNvPicPr>
            <a:picLocks noChangeAspect="1"/>
          </p:cNvPicPr>
          <p:nvPr/>
        </p:nvPicPr>
        <p:blipFill>
          <a:blip r:embed="rId3"/>
          <a:stretch>
            <a:fillRect/>
          </a:stretch>
        </p:blipFill>
        <p:spPr>
          <a:xfrm>
            <a:off x="7978488" y="165591"/>
            <a:ext cx="796529" cy="705085"/>
          </a:xfrm>
          <a:prstGeom prst="rect">
            <a:avLst/>
          </a:prstGeom>
        </p:spPr>
      </p:pic>
      <p:sp>
        <p:nvSpPr>
          <p:cNvPr id="3" name="TextBox 2">
            <a:extLst>
              <a:ext uri="{FF2B5EF4-FFF2-40B4-BE49-F238E27FC236}">
                <a16:creationId xmlns:a16="http://schemas.microsoft.com/office/drawing/2014/main" id="{78FFCC24-1BDC-2BAB-31EA-4E51B6AC1314}"/>
              </a:ext>
            </a:extLst>
          </p:cNvPr>
          <p:cNvSpPr txBox="1"/>
          <p:nvPr/>
        </p:nvSpPr>
        <p:spPr>
          <a:xfrm>
            <a:off x="368983" y="1103309"/>
            <a:ext cx="1425390" cy="338554"/>
          </a:xfrm>
          <a:prstGeom prst="rect">
            <a:avLst/>
          </a:prstGeom>
          <a:noFill/>
        </p:spPr>
        <p:txBody>
          <a:bodyPr wrap="none" rtlCol="0">
            <a:spAutoFit/>
          </a:bodyPr>
          <a:lstStyle/>
          <a:p>
            <a:r>
              <a:rPr lang="en-US" sz="1600" b="1" dirty="0">
                <a:latin typeface="IBM Plex Sans" panose="020B0503050203000203" pitchFamily="34" charset="0"/>
              </a:rPr>
              <a:t>Dashboard 1</a:t>
            </a:r>
            <a:endParaRPr lang="en-IN" sz="1600" b="1" dirty="0">
              <a:latin typeface="IBM Plex Sans" panose="020B0503050203000203" pitchFamily="34" charset="0"/>
            </a:endParaRPr>
          </a:p>
        </p:txBody>
      </p:sp>
      <p:sp>
        <p:nvSpPr>
          <p:cNvPr id="7" name="TextBox 6">
            <a:extLst>
              <a:ext uri="{FF2B5EF4-FFF2-40B4-BE49-F238E27FC236}">
                <a16:creationId xmlns:a16="http://schemas.microsoft.com/office/drawing/2014/main" id="{A715364B-D32B-DDF0-CC98-F6723595B14E}"/>
              </a:ext>
            </a:extLst>
          </p:cNvPr>
          <p:cNvSpPr txBox="1"/>
          <p:nvPr/>
        </p:nvSpPr>
        <p:spPr>
          <a:xfrm>
            <a:off x="4658782" y="1103309"/>
            <a:ext cx="1425390" cy="338554"/>
          </a:xfrm>
          <a:prstGeom prst="rect">
            <a:avLst/>
          </a:prstGeom>
          <a:noFill/>
        </p:spPr>
        <p:txBody>
          <a:bodyPr wrap="none" rtlCol="0">
            <a:spAutoFit/>
          </a:bodyPr>
          <a:lstStyle/>
          <a:p>
            <a:r>
              <a:rPr lang="en-US" sz="1600" b="1" dirty="0">
                <a:latin typeface="IBM Plex Sans" panose="020B0503050203000203" pitchFamily="34" charset="0"/>
              </a:rPr>
              <a:t>Dashboard 2</a:t>
            </a:r>
            <a:endParaRPr lang="en-IN" sz="1600" b="1" dirty="0">
              <a:latin typeface="IBM Plex Sans" panose="020B0503050203000203" pitchFamily="34" charset="0"/>
            </a:endParaRPr>
          </a:p>
        </p:txBody>
      </p:sp>
      <p:cxnSp>
        <p:nvCxnSpPr>
          <p:cNvPr id="12" name="Straight Connector 11">
            <a:extLst>
              <a:ext uri="{FF2B5EF4-FFF2-40B4-BE49-F238E27FC236}">
                <a16:creationId xmlns:a16="http://schemas.microsoft.com/office/drawing/2014/main" id="{CC5C2275-0F3C-2D4B-2737-6E538895E0D7}"/>
              </a:ext>
            </a:extLst>
          </p:cNvPr>
          <p:cNvCxnSpPr>
            <a:cxnSpLocks/>
          </p:cNvCxnSpPr>
          <p:nvPr/>
        </p:nvCxnSpPr>
        <p:spPr>
          <a:xfrm>
            <a:off x="4572000" y="1068978"/>
            <a:ext cx="0" cy="4315822"/>
          </a:xfrm>
          <a:prstGeom prst="line">
            <a:avLst/>
          </a:prstGeom>
        </p:spPr>
        <p:style>
          <a:lnRef idx="2">
            <a:schemeClr val="dk1"/>
          </a:lnRef>
          <a:fillRef idx="0">
            <a:schemeClr val="dk1"/>
          </a:fillRef>
          <a:effectRef idx="1">
            <a:schemeClr val="dk1"/>
          </a:effectRef>
          <a:fontRef idx="minor">
            <a:schemeClr val="tx1"/>
          </a:fontRef>
        </p:style>
      </p:cxnSp>
      <p:pic>
        <p:nvPicPr>
          <p:cNvPr id="22" name="Picture 21">
            <a:extLst>
              <a:ext uri="{FF2B5EF4-FFF2-40B4-BE49-F238E27FC236}">
                <a16:creationId xmlns:a16="http://schemas.microsoft.com/office/drawing/2014/main" id="{FB7C5060-A2FC-1BBA-DA0E-7E4F2058F4B5}"/>
              </a:ext>
            </a:extLst>
          </p:cNvPr>
          <p:cNvPicPr>
            <a:picLocks noChangeAspect="1"/>
          </p:cNvPicPr>
          <p:nvPr/>
        </p:nvPicPr>
        <p:blipFill>
          <a:blip r:embed="rId4"/>
          <a:srcRect t="6868" b="12443"/>
          <a:stretch>
            <a:fillRect/>
          </a:stretch>
        </p:blipFill>
        <p:spPr>
          <a:xfrm>
            <a:off x="368983" y="1424422"/>
            <a:ext cx="3823213" cy="2163887"/>
          </a:xfrm>
          <a:prstGeom prst="rect">
            <a:avLst/>
          </a:prstGeom>
        </p:spPr>
      </p:pic>
      <p:pic>
        <p:nvPicPr>
          <p:cNvPr id="26" name="Picture 25">
            <a:extLst>
              <a:ext uri="{FF2B5EF4-FFF2-40B4-BE49-F238E27FC236}">
                <a16:creationId xmlns:a16="http://schemas.microsoft.com/office/drawing/2014/main" id="{9B5B1360-1E3F-C30C-98DE-B0FE1A81A2CF}"/>
              </a:ext>
            </a:extLst>
          </p:cNvPr>
          <p:cNvPicPr>
            <a:picLocks noChangeAspect="1"/>
          </p:cNvPicPr>
          <p:nvPr/>
        </p:nvPicPr>
        <p:blipFill>
          <a:blip r:embed="rId5"/>
          <a:srcRect t="6747" b="14184"/>
          <a:stretch>
            <a:fillRect/>
          </a:stretch>
        </p:blipFill>
        <p:spPr>
          <a:xfrm>
            <a:off x="4658782" y="1424421"/>
            <a:ext cx="4116235" cy="2163887"/>
          </a:xfrm>
          <a:prstGeom prst="rect">
            <a:avLst/>
          </a:prstGeom>
        </p:spPr>
      </p:pic>
      <p:sp>
        <p:nvSpPr>
          <p:cNvPr id="34" name="TextBox 33">
            <a:extLst>
              <a:ext uri="{FF2B5EF4-FFF2-40B4-BE49-F238E27FC236}">
                <a16:creationId xmlns:a16="http://schemas.microsoft.com/office/drawing/2014/main" id="{1131CA6E-4A64-CB35-EEF8-042F8D241C5C}"/>
              </a:ext>
            </a:extLst>
          </p:cNvPr>
          <p:cNvSpPr txBox="1"/>
          <p:nvPr/>
        </p:nvSpPr>
        <p:spPr>
          <a:xfrm>
            <a:off x="368983" y="3626085"/>
            <a:ext cx="4116236" cy="1569660"/>
          </a:xfrm>
          <a:prstGeom prst="rect">
            <a:avLst/>
          </a:prstGeom>
          <a:noFill/>
        </p:spPr>
        <p:txBody>
          <a:bodyPr wrap="square" rtlCol="0">
            <a:spAutoFit/>
          </a:bodyPr>
          <a:lstStyle/>
          <a:p>
            <a:pPr marL="285750" indent="-285750">
              <a:buClr>
                <a:srgbClr val="006600"/>
              </a:buClr>
              <a:buFont typeface="Wingdings" panose="05000000000000000000" pitchFamily="2" charset="2"/>
              <a:buChar char="v"/>
            </a:pPr>
            <a:r>
              <a:rPr lang="en-US" sz="1200" b="1" dirty="0">
                <a:solidFill>
                  <a:srgbClr val="0532B3"/>
                </a:solidFill>
                <a:latin typeface="IBM Plex Sans" panose="020B0503050203000203" pitchFamily="34" charset="0"/>
              </a:rPr>
              <a:t>KPIs: </a:t>
            </a:r>
            <a:r>
              <a:rPr lang="en-IN" sz="1200" dirty="0">
                <a:latin typeface="IBM Plex Sans" panose="020B0503050203000203" pitchFamily="34" charset="0"/>
              </a:rPr>
              <a:t>Countries </a:t>
            </a:r>
            <a:r>
              <a:rPr lang="en-IN" sz="1200" dirty="0" err="1">
                <a:latin typeface="IBM Plex Sans" panose="020B0503050203000203" pitchFamily="34" charset="0"/>
              </a:rPr>
              <a:t>Analyzed</a:t>
            </a:r>
            <a:r>
              <a:rPr lang="en-IN" sz="1200" dirty="0">
                <a:latin typeface="IBM Plex Sans" panose="020B0503050203000203" pitchFamily="34" charset="0"/>
              </a:rPr>
              <a:t> Primary Energy Consumption Renewable Energy % Total CO₂ Emissions</a:t>
            </a:r>
          </a:p>
          <a:p>
            <a:pPr marL="285750" indent="-285750">
              <a:buClr>
                <a:srgbClr val="006600"/>
              </a:buClr>
              <a:buFont typeface="Wingdings" panose="05000000000000000000" pitchFamily="2" charset="2"/>
              <a:buChar char="v"/>
            </a:pPr>
            <a:r>
              <a:rPr lang="en-IN" sz="1200" b="1" dirty="0">
                <a:solidFill>
                  <a:srgbClr val="0532B3"/>
                </a:solidFill>
                <a:latin typeface="IBM Plex Sans" panose="020B0503050203000203" pitchFamily="34" charset="0"/>
              </a:rPr>
              <a:t>Visualizations: </a:t>
            </a:r>
            <a:r>
              <a:rPr lang="en-IN" sz="1200" dirty="0">
                <a:latin typeface="IBM Plex Sans" panose="020B0503050203000203" pitchFamily="34" charset="0"/>
              </a:rPr>
              <a:t>Map, Bar charts, Lollipop chart, line graph</a:t>
            </a:r>
          </a:p>
          <a:p>
            <a:pPr marL="285750" indent="-285750">
              <a:buClr>
                <a:srgbClr val="006600"/>
              </a:buClr>
              <a:buFont typeface="Wingdings" panose="05000000000000000000" pitchFamily="2" charset="2"/>
              <a:buChar char="v"/>
            </a:pPr>
            <a:r>
              <a:rPr lang="en-IN" sz="1200" b="1" dirty="0">
                <a:solidFill>
                  <a:srgbClr val="0532B3"/>
                </a:solidFill>
                <a:latin typeface="IBM Plex Sans" panose="020B0503050203000203" pitchFamily="34" charset="0"/>
              </a:rPr>
              <a:t>Filters: </a:t>
            </a:r>
            <a:r>
              <a:rPr lang="en-IN" sz="1200" dirty="0">
                <a:latin typeface="IBM Plex Sans" panose="020B0503050203000203" pitchFamily="34" charset="0"/>
              </a:rPr>
              <a:t>Year, Country</a:t>
            </a:r>
          </a:p>
          <a:p>
            <a:pPr marL="285750" indent="-285750">
              <a:buClr>
                <a:srgbClr val="006600"/>
              </a:buClr>
              <a:buFont typeface="Wingdings" panose="05000000000000000000" pitchFamily="2" charset="2"/>
              <a:buChar char="v"/>
            </a:pPr>
            <a:r>
              <a:rPr lang="en-IN" sz="1200" b="1" dirty="0">
                <a:solidFill>
                  <a:srgbClr val="0532B3"/>
                </a:solidFill>
                <a:latin typeface="IBM Plex Sans" panose="020B0503050203000203" pitchFamily="34" charset="0"/>
              </a:rPr>
              <a:t>Navigation</a:t>
            </a:r>
            <a:r>
              <a:rPr lang="en-IN" sz="1200" dirty="0">
                <a:latin typeface="IBM Plex Sans" panose="020B0503050203000203" pitchFamily="34" charset="0"/>
              </a:rPr>
              <a:t> to Dashboard 2</a:t>
            </a:r>
          </a:p>
          <a:p>
            <a:pPr marL="285750" indent="-285750">
              <a:buClr>
                <a:srgbClr val="006600"/>
              </a:buClr>
              <a:buFont typeface="Wingdings" panose="05000000000000000000" pitchFamily="2" charset="2"/>
              <a:buChar char="v"/>
            </a:pPr>
            <a:r>
              <a:rPr lang="en-IN" sz="1200" dirty="0">
                <a:latin typeface="IBM Plex Sans" panose="020B0503050203000203" pitchFamily="34" charset="0"/>
              </a:rPr>
              <a:t>Various </a:t>
            </a:r>
            <a:r>
              <a:rPr lang="en-IN" sz="1200" b="1" dirty="0">
                <a:solidFill>
                  <a:srgbClr val="0532B3"/>
                </a:solidFill>
                <a:latin typeface="IBM Plex Sans" panose="020B0503050203000203" pitchFamily="34" charset="0"/>
              </a:rPr>
              <a:t>Interactions</a:t>
            </a:r>
          </a:p>
        </p:txBody>
      </p:sp>
      <p:sp>
        <p:nvSpPr>
          <p:cNvPr id="36" name="TextBox 35">
            <a:extLst>
              <a:ext uri="{FF2B5EF4-FFF2-40B4-BE49-F238E27FC236}">
                <a16:creationId xmlns:a16="http://schemas.microsoft.com/office/drawing/2014/main" id="{395C2259-1EC6-CD36-85CF-13E617226A21}"/>
              </a:ext>
            </a:extLst>
          </p:cNvPr>
          <p:cNvSpPr txBox="1"/>
          <p:nvPr/>
        </p:nvSpPr>
        <p:spPr>
          <a:xfrm>
            <a:off x="4658782" y="3626085"/>
            <a:ext cx="4116236" cy="1200329"/>
          </a:xfrm>
          <a:prstGeom prst="rect">
            <a:avLst/>
          </a:prstGeom>
          <a:noFill/>
        </p:spPr>
        <p:txBody>
          <a:bodyPr wrap="square" rtlCol="0">
            <a:spAutoFit/>
          </a:bodyPr>
          <a:lstStyle/>
          <a:p>
            <a:pPr marL="285750" indent="-285750">
              <a:buClr>
                <a:srgbClr val="EA0000"/>
              </a:buClr>
              <a:buFont typeface="Wingdings" panose="05000000000000000000" pitchFamily="2" charset="2"/>
              <a:buChar char="v"/>
            </a:pPr>
            <a:r>
              <a:rPr lang="en-US" sz="1200" b="1" dirty="0">
                <a:solidFill>
                  <a:schemeClr val="accent6">
                    <a:lumMod val="75000"/>
                  </a:schemeClr>
                </a:solidFill>
                <a:latin typeface="IBM Plex Sans" panose="020B0503050203000203" pitchFamily="34" charset="0"/>
              </a:rPr>
              <a:t>KPIs: </a:t>
            </a:r>
            <a:r>
              <a:rPr lang="en-IN" sz="1200" dirty="0">
                <a:latin typeface="IBM Plex Sans" panose="020B0503050203000203" pitchFamily="34" charset="0"/>
              </a:rPr>
              <a:t>Total CO₂ Emissions Average CO₂ per Capita Total Greenhouse Gas Emissions Average Carbon Intensity</a:t>
            </a:r>
          </a:p>
          <a:p>
            <a:pPr marL="285750" indent="-285750">
              <a:buClr>
                <a:srgbClr val="EA0000"/>
              </a:buClr>
              <a:buFont typeface="Wingdings" panose="05000000000000000000" pitchFamily="2" charset="2"/>
              <a:buChar char="v"/>
            </a:pPr>
            <a:r>
              <a:rPr lang="en-IN" sz="1200" b="1" dirty="0">
                <a:solidFill>
                  <a:schemeClr val="accent6">
                    <a:lumMod val="75000"/>
                  </a:schemeClr>
                </a:solidFill>
                <a:latin typeface="IBM Plex Sans" panose="020B0503050203000203" pitchFamily="34" charset="0"/>
              </a:rPr>
              <a:t>Visualizations: </a:t>
            </a:r>
            <a:r>
              <a:rPr lang="en-IN" sz="1200" dirty="0">
                <a:latin typeface="IBM Plex Sans" panose="020B0503050203000203" pitchFamily="34" charset="0"/>
              </a:rPr>
              <a:t>Bubble chart, Bar chart</a:t>
            </a:r>
          </a:p>
          <a:p>
            <a:pPr marL="285750" indent="-285750">
              <a:buClr>
                <a:srgbClr val="EA0000"/>
              </a:buClr>
              <a:buFont typeface="Wingdings" panose="05000000000000000000" pitchFamily="2" charset="2"/>
              <a:buChar char="v"/>
            </a:pPr>
            <a:r>
              <a:rPr lang="en-IN" sz="1200" b="1" dirty="0">
                <a:solidFill>
                  <a:schemeClr val="accent6">
                    <a:lumMod val="75000"/>
                  </a:schemeClr>
                </a:solidFill>
                <a:latin typeface="IBM Plex Sans" panose="020B0503050203000203" pitchFamily="34" charset="0"/>
              </a:rPr>
              <a:t>Navigation</a:t>
            </a:r>
            <a:r>
              <a:rPr lang="en-IN" sz="1200" dirty="0">
                <a:latin typeface="IBM Plex Sans" panose="020B0503050203000203" pitchFamily="34" charset="0"/>
              </a:rPr>
              <a:t> to Dashboard 2</a:t>
            </a:r>
          </a:p>
          <a:p>
            <a:pPr marL="285750" indent="-285750">
              <a:buClr>
                <a:srgbClr val="EA0000"/>
              </a:buClr>
              <a:buFont typeface="Wingdings" panose="05000000000000000000" pitchFamily="2" charset="2"/>
              <a:buChar char="v"/>
            </a:pPr>
            <a:r>
              <a:rPr lang="en-IN" sz="1200" dirty="0">
                <a:latin typeface="IBM Plex Sans" panose="020B0503050203000203" pitchFamily="34" charset="0"/>
              </a:rPr>
              <a:t>Various </a:t>
            </a:r>
            <a:r>
              <a:rPr lang="en-IN" sz="1200" b="1" dirty="0">
                <a:solidFill>
                  <a:schemeClr val="accent6">
                    <a:lumMod val="75000"/>
                  </a:schemeClr>
                </a:solidFill>
                <a:latin typeface="IBM Plex Sans" panose="020B0503050203000203" pitchFamily="34" charset="0"/>
              </a:rPr>
              <a:t>Interactions</a:t>
            </a:r>
          </a:p>
        </p:txBody>
      </p:sp>
    </p:spTree>
    <p:extLst>
      <p:ext uri="{BB962C8B-B14F-4D97-AF65-F5344CB8AC3E}">
        <p14:creationId xmlns:p14="http://schemas.microsoft.com/office/powerpoint/2010/main" val="29706948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400C3-1C65-E834-19AC-54BEC09BC7B6}"/>
            </a:ext>
          </a:extLst>
        </p:cNvPr>
        <p:cNvGrpSpPr/>
        <p:nvPr/>
      </p:nvGrpSpPr>
      <p:grpSpPr>
        <a:xfrm>
          <a:off x="0" y="0"/>
          <a:ext cx="0" cy="0"/>
          <a:chOff x="0" y="0"/>
          <a:chExt cx="0" cy="0"/>
        </a:xfrm>
      </p:grpSpPr>
      <p:sp>
        <p:nvSpPr>
          <p:cNvPr id="8" name="Title">
            <a:extLst>
              <a:ext uri="{FF2B5EF4-FFF2-40B4-BE49-F238E27FC236}">
                <a16:creationId xmlns:a16="http://schemas.microsoft.com/office/drawing/2014/main" id="{3AE5C90D-D87B-F701-D9C1-E44DD44C944D}"/>
              </a:ext>
            </a:extLst>
          </p:cNvPr>
          <p:cNvSpPr txBox="1"/>
          <p:nvPr/>
        </p:nvSpPr>
        <p:spPr>
          <a:xfrm>
            <a:off x="368983" y="640000"/>
            <a:ext cx="8000000" cy="523220"/>
          </a:xfrm>
          <a:prstGeom prst="rect">
            <a:avLst/>
          </a:prstGeom>
          <a:noFill/>
        </p:spPr>
        <p:txBody>
          <a:bodyPr wrap="square" rtlCol="0">
            <a:spAutoFit/>
          </a:bodyPr>
          <a:lstStyle/>
          <a:p>
            <a:r>
              <a:rPr lang="en-IN" sz="2800" b="1" dirty="0">
                <a:solidFill>
                  <a:srgbClr val="008000"/>
                </a:solidFill>
                <a:latin typeface="IBM Plex Sans" panose="020B0503050203000203" pitchFamily="34" charset="0"/>
              </a:rPr>
              <a:t>Key Insights</a:t>
            </a:r>
          </a:p>
        </p:txBody>
      </p:sp>
      <p:pic>
        <p:nvPicPr>
          <p:cNvPr id="10" name="Picture 9">
            <a:extLst>
              <a:ext uri="{FF2B5EF4-FFF2-40B4-BE49-F238E27FC236}">
                <a16:creationId xmlns:a16="http://schemas.microsoft.com/office/drawing/2014/main" id="{2DCF2576-F68C-7C6C-383D-114230155BB6}"/>
              </a:ext>
            </a:extLst>
          </p:cNvPr>
          <p:cNvPicPr>
            <a:picLocks noChangeAspect="1"/>
          </p:cNvPicPr>
          <p:nvPr/>
        </p:nvPicPr>
        <p:blipFill>
          <a:blip r:embed="rId2"/>
          <a:stretch>
            <a:fillRect/>
          </a:stretch>
        </p:blipFill>
        <p:spPr>
          <a:xfrm>
            <a:off x="368983" y="165591"/>
            <a:ext cx="1009929" cy="393439"/>
          </a:xfrm>
          <a:prstGeom prst="rect">
            <a:avLst/>
          </a:prstGeom>
        </p:spPr>
      </p:pic>
      <p:pic>
        <p:nvPicPr>
          <p:cNvPr id="4" name="Picture 3">
            <a:extLst>
              <a:ext uri="{FF2B5EF4-FFF2-40B4-BE49-F238E27FC236}">
                <a16:creationId xmlns:a16="http://schemas.microsoft.com/office/drawing/2014/main" id="{23550F60-EA08-2785-191C-BA723FB62CFF}"/>
              </a:ext>
            </a:extLst>
          </p:cNvPr>
          <p:cNvPicPr>
            <a:picLocks noChangeAspect="1"/>
          </p:cNvPicPr>
          <p:nvPr/>
        </p:nvPicPr>
        <p:blipFill>
          <a:blip r:embed="rId3"/>
          <a:stretch>
            <a:fillRect/>
          </a:stretch>
        </p:blipFill>
        <p:spPr>
          <a:xfrm>
            <a:off x="7978488" y="165591"/>
            <a:ext cx="796529" cy="705085"/>
          </a:xfrm>
          <a:prstGeom prst="rect">
            <a:avLst/>
          </a:prstGeom>
        </p:spPr>
      </p:pic>
      <p:graphicFrame>
        <p:nvGraphicFramePr>
          <p:cNvPr id="5" name="Table 4">
            <a:extLst>
              <a:ext uri="{FF2B5EF4-FFF2-40B4-BE49-F238E27FC236}">
                <a16:creationId xmlns:a16="http://schemas.microsoft.com/office/drawing/2014/main" id="{EB9778A0-EF12-D69C-FC41-3125343F7235}"/>
              </a:ext>
            </a:extLst>
          </p:cNvPr>
          <p:cNvGraphicFramePr>
            <a:graphicFrameLocks noGrp="1"/>
          </p:cNvGraphicFramePr>
          <p:nvPr>
            <p:extLst>
              <p:ext uri="{D42A27DB-BD31-4B8C-83A1-F6EECF244321}">
                <p14:modId xmlns:p14="http://schemas.microsoft.com/office/powerpoint/2010/main" val="3162177838"/>
              </p:ext>
            </p:extLst>
          </p:nvPr>
        </p:nvGraphicFramePr>
        <p:xfrm>
          <a:off x="368984" y="1244190"/>
          <a:ext cx="4033684" cy="3615448"/>
        </p:xfrm>
        <a:graphic>
          <a:graphicData uri="http://schemas.openxmlformats.org/drawingml/2006/table">
            <a:tbl>
              <a:tblPr firstRow="1" bandCol="1">
                <a:tableStyleId>{C083E6E3-FA7D-4D7B-A595-EF9225AFEA82}</a:tableStyleId>
              </a:tblPr>
              <a:tblGrid>
                <a:gridCol w="4033684">
                  <a:extLst>
                    <a:ext uri="{9D8B030D-6E8A-4147-A177-3AD203B41FA5}">
                      <a16:colId xmlns:a16="http://schemas.microsoft.com/office/drawing/2014/main" val="3299652195"/>
                    </a:ext>
                  </a:extLst>
                </a:gridCol>
              </a:tblGrid>
              <a:tr h="541212">
                <a:tc>
                  <a:txBody>
                    <a:bodyPr/>
                    <a:lstStyle/>
                    <a:p>
                      <a:pPr algn="ctr"/>
                      <a:r>
                        <a:rPr lang="en-IN" sz="2000" b="1" dirty="0">
                          <a:solidFill>
                            <a:srgbClr val="0532B3"/>
                          </a:solidFill>
                          <a:latin typeface="IBM Plex Sans" panose="020B0503050203000203" pitchFamily="34" charset="0"/>
                        </a:rPr>
                        <a:t>Energy Transition</a:t>
                      </a:r>
                    </a:p>
                  </a:txBody>
                  <a:tcPr/>
                </a:tc>
                <a:extLst>
                  <a:ext uri="{0D108BD9-81ED-4DB2-BD59-A6C34878D82A}">
                    <a16:rowId xmlns:a16="http://schemas.microsoft.com/office/drawing/2014/main" val="809625000"/>
                  </a:ext>
                </a:extLst>
              </a:tr>
              <a:tr h="3074236">
                <a:tc>
                  <a:txBody>
                    <a:bodyPr/>
                    <a:lstStyle/>
                    <a:p>
                      <a:pPr marL="0" indent="0">
                        <a:buClr>
                          <a:srgbClr val="008000"/>
                        </a:buClr>
                        <a:buFont typeface="Wingdings" panose="05000000000000000000" pitchFamily="2" charset="2"/>
                        <a:buNone/>
                      </a:pPr>
                      <a:r>
                        <a:rPr lang="en-IN" dirty="0">
                          <a:latin typeface="IBM Plex Sans" panose="020B0503050203000203" pitchFamily="34" charset="0"/>
                        </a:rPr>
                        <a:t>🌱  Renewable energy contributes only </a:t>
                      </a:r>
                      <a:r>
                        <a:rPr lang="en-IN" b="1" dirty="0">
                          <a:latin typeface="IBM Plex Sans" panose="020B0503050203000203" pitchFamily="34" charset="0"/>
                        </a:rPr>
                        <a:t>12.1%</a:t>
                      </a:r>
                      <a:r>
                        <a:rPr lang="en-IN" dirty="0">
                          <a:latin typeface="IBM Plex Sans" panose="020B0503050203000203" pitchFamily="34" charset="0"/>
                        </a:rPr>
                        <a:t> of global primary energy consumption. </a:t>
                      </a:r>
                    </a:p>
                    <a:p>
                      <a:pPr marL="0" indent="0">
                        <a:buClr>
                          <a:srgbClr val="008000"/>
                        </a:buClr>
                        <a:buFont typeface="Wingdings" panose="05000000000000000000" pitchFamily="2" charset="2"/>
                        <a:buNone/>
                      </a:pPr>
                      <a:endParaRPr lang="en-IN" dirty="0">
                        <a:latin typeface="IBM Plex Sans" panose="020B0503050203000203" pitchFamily="34" charset="0"/>
                      </a:endParaRPr>
                    </a:p>
                    <a:p>
                      <a:pPr marL="0" indent="0">
                        <a:buClr>
                          <a:srgbClr val="008000"/>
                        </a:buClr>
                        <a:buFont typeface="Wingdings" panose="05000000000000000000" pitchFamily="2" charset="2"/>
                        <a:buNone/>
                      </a:pPr>
                      <a:r>
                        <a:rPr lang="en-IN" dirty="0">
                          <a:latin typeface="IBM Plex Sans" panose="020B0503050203000203" pitchFamily="34" charset="0"/>
                        </a:rPr>
                        <a:t>⚡  China is the world's largest energy consumer. </a:t>
                      </a:r>
                    </a:p>
                    <a:p>
                      <a:pPr marL="0" indent="0">
                        <a:buClr>
                          <a:srgbClr val="008000"/>
                        </a:buClr>
                        <a:buFont typeface="Wingdings" panose="05000000000000000000" pitchFamily="2" charset="2"/>
                        <a:buNone/>
                      </a:pPr>
                      <a:endParaRPr lang="en-IN" dirty="0">
                        <a:latin typeface="IBM Plex Sans" panose="020B0503050203000203" pitchFamily="34" charset="0"/>
                      </a:endParaRPr>
                    </a:p>
                    <a:p>
                      <a:pPr marL="0" indent="0">
                        <a:buClr>
                          <a:srgbClr val="008000"/>
                        </a:buClr>
                        <a:buFont typeface="Wingdings" panose="05000000000000000000" pitchFamily="2" charset="2"/>
                        <a:buNone/>
                      </a:pPr>
                      <a:r>
                        <a:rPr lang="en-IN" dirty="0">
                          <a:latin typeface="IBM Plex Sans" panose="020B0503050203000203" pitchFamily="34" charset="0"/>
                        </a:rPr>
                        <a:t>🌍  Iceland and Norway lead renewable energy adoption. </a:t>
                      </a:r>
                    </a:p>
                    <a:p>
                      <a:pPr marL="0" indent="0">
                        <a:buClr>
                          <a:srgbClr val="008000"/>
                        </a:buClr>
                        <a:buFont typeface="Wingdings" panose="05000000000000000000" pitchFamily="2" charset="2"/>
                        <a:buNone/>
                      </a:pPr>
                      <a:endParaRPr lang="en-IN" dirty="0">
                        <a:latin typeface="IBM Plex Sans" panose="020B0503050203000203" pitchFamily="34" charset="0"/>
                      </a:endParaRPr>
                    </a:p>
                    <a:p>
                      <a:pPr marL="0" indent="0">
                        <a:buClr>
                          <a:srgbClr val="008000"/>
                        </a:buClr>
                        <a:buFont typeface="Wingdings" panose="05000000000000000000" pitchFamily="2" charset="2"/>
                        <a:buNone/>
                      </a:pPr>
                      <a:r>
                        <a:rPr lang="en-IN" dirty="0">
                          <a:solidFill>
                            <a:schemeClr val="accent2">
                              <a:lumMod val="75000"/>
                            </a:schemeClr>
                          </a:solidFill>
                          <a:latin typeface="IBM Plex Sans" panose="020B0503050203000203" pitchFamily="34" charset="0"/>
                        </a:rPr>
                        <a:t>🛢</a:t>
                      </a:r>
                      <a:r>
                        <a:rPr lang="en-IN" dirty="0">
                          <a:latin typeface="IBM Plex Sans" panose="020B0503050203000203" pitchFamily="34" charset="0"/>
                        </a:rPr>
                        <a:t>  Fossil fuels remain the dominant global energy source.</a:t>
                      </a:r>
                    </a:p>
                  </a:txBody>
                  <a:tcPr/>
                </a:tc>
                <a:extLst>
                  <a:ext uri="{0D108BD9-81ED-4DB2-BD59-A6C34878D82A}">
                    <a16:rowId xmlns:a16="http://schemas.microsoft.com/office/drawing/2014/main" val="675140041"/>
                  </a:ext>
                </a:extLst>
              </a:tr>
            </a:tbl>
          </a:graphicData>
        </a:graphic>
      </p:graphicFrame>
      <p:graphicFrame>
        <p:nvGraphicFramePr>
          <p:cNvPr id="9" name="Table 8">
            <a:extLst>
              <a:ext uri="{FF2B5EF4-FFF2-40B4-BE49-F238E27FC236}">
                <a16:creationId xmlns:a16="http://schemas.microsoft.com/office/drawing/2014/main" id="{E054F572-F176-9DB3-637C-D7C38D582548}"/>
              </a:ext>
            </a:extLst>
          </p:cNvPr>
          <p:cNvGraphicFramePr>
            <a:graphicFrameLocks noGrp="1"/>
          </p:cNvGraphicFramePr>
          <p:nvPr>
            <p:extLst>
              <p:ext uri="{D42A27DB-BD31-4B8C-83A1-F6EECF244321}">
                <p14:modId xmlns:p14="http://schemas.microsoft.com/office/powerpoint/2010/main" val="3447553816"/>
              </p:ext>
            </p:extLst>
          </p:nvPr>
        </p:nvGraphicFramePr>
        <p:xfrm>
          <a:off x="4741332" y="1224024"/>
          <a:ext cx="4033684" cy="3615448"/>
        </p:xfrm>
        <a:graphic>
          <a:graphicData uri="http://schemas.openxmlformats.org/drawingml/2006/table">
            <a:tbl>
              <a:tblPr firstRow="1" bandCol="1">
                <a:tableStyleId>{68D230F3-CF80-4859-8CE7-A43EE81993B5}</a:tableStyleId>
              </a:tblPr>
              <a:tblGrid>
                <a:gridCol w="4033684">
                  <a:extLst>
                    <a:ext uri="{9D8B030D-6E8A-4147-A177-3AD203B41FA5}">
                      <a16:colId xmlns:a16="http://schemas.microsoft.com/office/drawing/2014/main" val="3299652195"/>
                    </a:ext>
                  </a:extLst>
                </a:gridCol>
              </a:tblGrid>
              <a:tr h="541212">
                <a:tc>
                  <a:txBody>
                    <a:bodyPr/>
                    <a:lstStyle/>
                    <a:p>
                      <a:pPr algn="ctr"/>
                      <a:r>
                        <a:rPr lang="en-IN" sz="2000" b="1" dirty="0">
                          <a:solidFill>
                            <a:srgbClr val="C00000"/>
                          </a:solidFill>
                          <a:latin typeface="IBM Plex Sans" panose="020B0503050203000203" pitchFamily="34" charset="0"/>
                        </a:rPr>
                        <a:t>Climate Intelligence</a:t>
                      </a:r>
                    </a:p>
                  </a:txBody>
                  <a:tcPr/>
                </a:tc>
                <a:extLst>
                  <a:ext uri="{0D108BD9-81ED-4DB2-BD59-A6C34878D82A}">
                    <a16:rowId xmlns:a16="http://schemas.microsoft.com/office/drawing/2014/main" val="809625000"/>
                  </a:ext>
                </a:extLst>
              </a:tr>
              <a:tr h="3074236">
                <a:tc>
                  <a:txBody>
                    <a:bodyPr/>
                    <a:lstStyle/>
                    <a:p>
                      <a:pPr marL="0" indent="0">
                        <a:buClr>
                          <a:schemeClr val="accent6">
                            <a:lumMod val="75000"/>
                          </a:schemeClr>
                        </a:buClr>
                        <a:buFont typeface="Wingdings" panose="05000000000000000000" pitchFamily="2" charset="2"/>
                        <a:buNone/>
                      </a:pPr>
                      <a:r>
                        <a:rPr lang="en-IN" dirty="0">
                          <a:solidFill>
                            <a:schemeClr val="accent5">
                              <a:lumMod val="60000"/>
                              <a:lumOff val="40000"/>
                            </a:schemeClr>
                          </a:solidFill>
                          <a:latin typeface="IBM Plex Sans" panose="020B0503050203000203" pitchFamily="34" charset="0"/>
                        </a:rPr>
                        <a:t>☁ </a:t>
                      </a:r>
                      <a:r>
                        <a:rPr lang="en-IN" dirty="0">
                          <a:latin typeface="IBM Plex Sans" panose="020B0503050203000203" pitchFamily="34" charset="0"/>
                        </a:rPr>
                        <a:t>  Higher renewable adoption generally corresponds with lower CO₂ emissions per capita. </a:t>
                      </a:r>
                    </a:p>
                    <a:p>
                      <a:pPr marL="285750" indent="-285750">
                        <a:buClr>
                          <a:schemeClr val="accent6">
                            <a:lumMod val="75000"/>
                          </a:schemeClr>
                        </a:buClr>
                        <a:buFont typeface="Wingdings" panose="05000000000000000000" pitchFamily="2" charset="2"/>
                        <a:buChar char="Ø"/>
                      </a:pPr>
                      <a:endParaRPr lang="en-IN" dirty="0">
                        <a:latin typeface="IBM Plex Sans" panose="020B0503050203000203" pitchFamily="34" charset="0"/>
                      </a:endParaRPr>
                    </a:p>
                    <a:p>
                      <a:pPr marL="0" indent="0">
                        <a:buClr>
                          <a:schemeClr val="accent6">
                            <a:lumMod val="75000"/>
                          </a:schemeClr>
                        </a:buClr>
                        <a:buFont typeface="Wingdings" panose="05000000000000000000" pitchFamily="2" charset="2"/>
                        <a:buNone/>
                      </a:pPr>
                      <a:r>
                        <a:rPr lang="en-IN" dirty="0">
                          <a:latin typeface="IBM Plex Sans" panose="020B0503050203000203" pitchFamily="34" charset="0"/>
                        </a:rPr>
                        <a:t>🏭  China is the largest current CO₂ emitter. </a:t>
                      </a:r>
                    </a:p>
                    <a:p>
                      <a:pPr marL="285750" indent="-285750">
                        <a:buClr>
                          <a:schemeClr val="accent6">
                            <a:lumMod val="75000"/>
                          </a:schemeClr>
                        </a:buClr>
                        <a:buFont typeface="Wingdings" panose="05000000000000000000" pitchFamily="2" charset="2"/>
                        <a:buChar char="Ø"/>
                      </a:pPr>
                      <a:endParaRPr lang="en-IN" dirty="0">
                        <a:latin typeface="IBM Plex Sans" panose="020B0503050203000203" pitchFamily="34" charset="0"/>
                      </a:endParaRPr>
                    </a:p>
                    <a:p>
                      <a:pPr marL="0" indent="0">
                        <a:buClr>
                          <a:schemeClr val="accent6">
                            <a:lumMod val="75000"/>
                          </a:schemeClr>
                        </a:buClr>
                        <a:buFont typeface="Wingdings" panose="05000000000000000000" pitchFamily="2" charset="2"/>
                        <a:buNone/>
                      </a:pPr>
                      <a:r>
                        <a:rPr lang="en-IN" dirty="0">
                          <a:solidFill>
                            <a:srgbClr val="FF0000"/>
                          </a:solidFill>
                          <a:latin typeface="IBM Plex Sans" panose="020B0503050203000203" pitchFamily="34" charset="0"/>
                        </a:rPr>
                        <a:t>🌎</a:t>
                      </a:r>
                      <a:r>
                        <a:rPr lang="en-IN" dirty="0">
                          <a:latin typeface="IBM Plex Sans" panose="020B0503050203000203" pitchFamily="34" charset="0"/>
                        </a:rPr>
                        <a:t>  The United States has the highest historical contribution to global warming. </a:t>
                      </a:r>
                    </a:p>
                    <a:p>
                      <a:pPr marL="285750" indent="-285750">
                        <a:buClr>
                          <a:schemeClr val="accent6">
                            <a:lumMod val="75000"/>
                          </a:schemeClr>
                        </a:buClr>
                        <a:buFont typeface="Wingdings" panose="05000000000000000000" pitchFamily="2" charset="2"/>
                        <a:buChar char="Ø"/>
                      </a:pPr>
                      <a:endParaRPr lang="en-IN" dirty="0">
                        <a:latin typeface="IBM Plex Sans" panose="020B0503050203000203" pitchFamily="34" charset="0"/>
                      </a:endParaRPr>
                    </a:p>
                    <a:p>
                      <a:pPr marL="0" indent="0">
                        <a:buClr>
                          <a:schemeClr val="accent6">
                            <a:lumMod val="75000"/>
                          </a:schemeClr>
                        </a:buClr>
                        <a:buFont typeface="Wingdings" panose="05000000000000000000" pitchFamily="2" charset="2"/>
                        <a:buNone/>
                      </a:pPr>
                      <a:r>
                        <a:rPr lang="en-IN" dirty="0">
                          <a:latin typeface="IBM Plex Sans" panose="020B0503050203000203" pitchFamily="34" charset="0"/>
                        </a:rPr>
                        <a:t>⚡  Several countries continue to rely on highly carbon-intensive electricity generation.</a:t>
                      </a:r>
                    </a:p>
                  </a:txBody>
                  <a:tcPr/>
                </a:tc>
                <a:extLst>
                  <a:ext uri="{0D108BD9-81ED-4DB2-BD59-A6C34878D82A}">
                    <a16:rowId xmlns:a16="http://schemas.microsoft.com/office/drawing/2014/main" val="675140041"/>
                  </a:ext>
                </a:extLst>
              </a:tr>
            </a:tbl>
          </a:graphicData>
        </a:graphic>
      </p:graphicFrame>
    </p:spTree>
    <p:extLst>
      <p:ext uri="{BB962C8B-B14F-4D97-AF65-F5344CB8AC3E}">
        <p14:creationId xmlns:p14="http://schemas.microsoft.com/office/powerpoint/2010/main" val="3236216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p:cNvSpPr txBox="1"/>
          <p:nvPr/>
        </p:nvSpPr>
        <p:spPr>
          <a:xfrm>
            <a:off x="368983" y="640000"/>
            <a:ext cx="8000000" cy="523220"/>
          </a:xfrm>
          <a:prstGeom prst="rect">
            <a:avLst/>
          </a:prstGeom>
          <a:noFill/>
        </p:spPr>
        <p:txBody>
          <a:bodyPr wrap="square" rtlCol="0">
            <a:spAutoFit/>
          </a:bodyPr>
          <a:lstStyle/>
          <a:p>
            <a:r>
              <a:rPr lang="en-IN" sz="2800" b="1" dirty="0">
                <a:solidFill>
                  <a:srgbClr val="008000"/>
                </a:solidFill>
                <a:latin typeface="IBM Plex Sans" panose="020B0503050203000203" pitchFamily="34" charset="0"/>
              </a:rPr>
              <a:t>Conclusion</a:t>
            </a:r>
          </a:p>
        </p:txBody>
      </p:sp>
      <p:pic>
        <p:nvPicPr>
          <p:cNvPr id="10" name="Picture 9"/>
          <p:cNvPicPr>
            <a:picLocks noChangeAspect="1"/>
          </p:cNvPicPr>
          <p:nvPr/>
        </p:nvPicPr>
        <p:blipFill>
          <a:blip r:embed="rId2"/>
          <a:stretch>
            <a:fillRect/>
          </a:stretch>
        </p:blipFill>
        <p:spPr>
          <a:xfrm>
            <a:off x="368983" y="165591"/>
            <a:ext cx="1009929" cy="393439"/>
          </a:xfrm>
          <a:prstGeom prst="rect">
            <a:avLst/>
          </a:prstGeom>
        </p:spPr>
      </p:pic>
      <p:pic>
        <p:nvPicPr>
          <p:cNvPr id="4" name="Picture 3"/>
          <p:cNvPicPr>
            <a:picLocks noChangeAspect="1"/>
          </p:cNvPicPr>
          <p:nvPr/>
        </p:nvPicPr>
        <p:blipFill>
          <a:blip r:embed="rId3"/>
          <a:stretch>
            <a:fillRect/>
          </a:stretch>
        </p:blipFill>
        <p:spPr>
          <a:xfrm>
            <a:off x="7978488" y="165591"/>
            <a:ext cx="796529" cy="705085"/>
          </a:xfrm>
          <a:prstGeom prst="rect">
            <a:avLst/>
          </a:prstGeom>
        </p:spPr>
      </p:pic>
      <p:pic>
        <p:nvPicPr>
          <p:cNvPr id="26" name="Picture 25">
            <a:extLst>
              <a:ext uri="{FF2B5EF4-FFF2-40B4-BE49-F238E27FC236}">
                <a16:creationId xmlns:a16="http://schemas.microsoft.com/office/drawing/2014/main" id="{CCE85DC2-3D3B-92A7-B245-6E7A7B2D14E9}"/>
              </a:ext>
            </a:extLst>
          </p:cNvPr>
          <p:cNvPicPr>
            <a:picLocks noChangeAspect="1"/>
          </p:cNvPicPr>
          <p:nvPr/>
        </p:nvPicPr>
        <p:blipFill>
          <a:blip r:embed="rId4"/>
          <a:stretch>
            <a:fillRect/>
          </a:stretch>
        </p:blipFill>
        <p:spPr>
          <a:xfrm>
            <a:off x="2953904" y="1908563"/>
            <a:ext cx="3236192" cy="223148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7" name="TextBox 26">
            <a:extLst>
              <a:ext uri="{FF2B5EF4-FFF2-40B4-BE49-F238E27FC236}">
                <a16:creationId xmlns:a16="http://schemas.microsoft.com/office/drawing/2014/main" id="{43B094A5-AE68-20CD-FDDE-8B8E482F4B9E}"/>
              </a:ext>
            </a:extLst>
          </p:cNvPr>
          <p:cNvSpPr txBox="1"/>
          <p:nvPr/>
        </p:nvSpPr>
        <p:spPr>
          <a:xfrm>
            <a:off x="3285067" y="2223639"/>
            <a:ext cx="2573866" cy="1601331"/>
          </a:xfrm>
          <a:prstGeom prst="ellipse">
            <a:avLst/>
          </a:prstGeom>
          <a:solidFill>
            <a:srgbClr val="0033CC"/>
          </a:solidFill>
        </p:spPr>
        <p:txBody>
          <a:bodyPr wrap="square" rtlCol="0">
            <a:spAutoFit/>
          </a:bodyPr>
          <a:lstStyle/>
          <a:p>
            <a:pPr algn="ctr"/>
            <a:r>
              <a:rPr lang="en-IN" sz="1700" b="1" dirty="0">
                <a:solidFill>
                  <a:schemeClr val="bg1"/>
                </a:solidFill>
              </a:rPr>
              <a:t>Interactive</a:t>
            </a:r>
          </a:p>
          <a:p>
            <a:pPr algn="ctr"/>
            <a:r>
              <a:rPr lang="en-IN" sz="1700" b="1" dirty="0">
                <a:solidFill>
                  <a:schemeClr val="bg1"/>
                </a:solidFill>
              </a:rPr>
              <a:t>Decision Support</a:t>
            </a:r>
          </a:p>
          <a:p>
            <a:pPr algn="ctr"/>
            <a:r>
              <a:rPr lang="en-IN" sz="1700" b="1" dirty="0">
                <a:solidFill>
                  <a:schemeClr val="bg1"/>
                </a:solidFill>
              </a:rPr>
              <a:t>Dashboard</a:t>
            </a:r>
          </a:p>
        </p:txBody>
      </p:sp>
      <p:sp>
        <p:nvSpPr>
          <p:cNvPr id="29" name="Oval 28">
            <a:extLst>
              <a:ext uri="{FF2B5EF4-FFF2-40B4-BE49-F238E27FC236}">
                <a16:creationId xmlns:a16="http://schemas.microsoft.com/office/drawing/2014/main" id="{47DF6803-BC6B-986A-5F09-4D4B9F943CA5}"/>
              </a:ext>
            </a:extLst>
          </p:cNvPr>
          <p:cNvSpPr/>
          <p:nvPr/>
        </p:nvSpPr>
        <p:spPr>
          <a:xfrm>
            <a:off x="959557" y="3682847"/>
            <a:ext cx="1828765" cy="914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t>🌍 </a:t>
            </a:r>
          </a:p>
          <a:p>
            <a:pPr algn="ctr"/>
            <a:r>
              <a:rPr lang="en-US" dirty="0"/>
              <a:t>Country Comparison</a:t>
            </a:r>
            <a:endParaRPr lang="en-IN" dirty="0"/>
          </a:p>
        </p:txBody>
      </p:sp>
      <p:sp>
        <p:nvSpPr>
          <p:cNvPr id="35" name="Oval 34">
            <a:extLst>
              <a:ext uri="{FF2B5EF4-FFF2-40B4-BE49-F238E27FC236}">
                <a16:creationId xmlns:a16="http://schemas.microsoft.com/office/drawing/2014/main" id="{B74C8674-57BF-AFF9-2A7C-4B83E791E8D5}"/>
              </a:ext>
            </a:extLst>
          </p:cNvPr>
          <p:cNvSpPr/>
          <p:nvPr/>
        </p:nvSpPr>
        <p:spPr>
          <a:xfrm>
            <a:off x="260705" y="2567104"/>
            <a:ext cx="1828766" cy="914400"/>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IN" dirty="0"/>
              <a:t>🌱 </a:t>
            </a:r>
            <a:r>
              <a:rPr lang="en-US" dirty="0"/>
              <a:t>Renewable Energy</a:t>
            </a:r>
            <a:endParaRPr lang="en-IN" dirty="0"/>
          </a:p>
        </p:txBody>
      </p:sp>
      <p:sp>
        <p:nvSpPr>
          <p:cNvPr id="47" name="Oval 46">
            <a:extLst>
              <a:ext uri="{FF2B5EF4-FFF2-40B4-BE49-F238E27FC236}">
                <a16:creationId xmlns:a16="http://schemas.microsoft.com/office/drawing/2014/main" id="{94ED1324-456C-467C-C45F-03E5DC0E4EEC}"/>
              </a:ext>
            </a:extLst>
          </p:cNvPr>
          <p:cNvSpPr/>
          <p:nvPr/>
        </p:nvSpPr>
        <p:spPr>
          <a:xfrm>
            <a:off x="959555" y="1460653"/>
            <a:ext cx="1828767" cy="914400"/>
          </a:xfrm>
          <a:prstGeom prst="ellipse">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IN" dirty="0"/>
              <a:t>☁</a:t>
            </a:r>
          </a:p>
          <a:p>
            <a:pPr algn="ctr"/>
            <a:r>
              <a:rPr lang="en-IN" dirty="0"/>
              <a:t>CO2 and GHG Analysis</a:t>
            </a:r>
          </a:p>
        </p:txBody>
      </p:sp>
      <p:sp>
        <p:nvSpPr>
          <p:cNvPr id="49" name="Oval 48">
            <a:extLst>
              <a:ext uri="{FF2B5EF4-FFF2-40B4-BE49-F238E27FC236}">
                <a16:creationId xmlns:a16="http://schemas.microsoft.com/office/drawing/2014/main" id="{287404F2-F02B-D4D9-0504-1E9BD6F8AD32}"/>
              </a:ext>
            </a:extLst>
          </p:cNvPr>
          <p:cNvSpPr/>
          <p:nvPr/>
        </p:nvSpPr>
        <p:spPr>
          <a:xfrm>
            <a:off x="6355677" y="1460653"/>
            <a:ext cx="1828767"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 </a:t>
            </a:r>
          </a:p>
          <a:p>
            <a:pPr algn="ctr"/>
            <a:r>
              <a:rPr lang="en-IN" dirty="0"/>
              <a:t>Energy Consumption</a:t>
            </a:r>
          </a:p>
        </p:txBody>
      </p:sp>
      <p:sp>
        <p:nvSpPr>
          <p:cNvPr id="59" name="Oval 58">
            <a:extLst>
              <a:ext uri="{FF2B5EF4-FFF2-40B4-BE49-F238E27FC236}">
                <a16:creationId xmlns:a16="http://schemas.microsoft.com/office/drawing/2014/main" id="{37E4DA47-6805-746B-A91F-0F9B59DF70B7}"/>
              </a:ext>
            </a:extLst>
          </p:cNvPr>
          <p:cNvSpPr/>
          <p:nvPr/>
        </p:nvSpPr>
        <p:spPr>
          <a:xfrm>
            <a:off x="7054529" y="2571750"/>
            <a:ext cx="1828767" cy="914400"/>
          </a:xfrm>
          <a:prstGeom prst="ellipse">
            <a:avLst/>
          </a:prstGeom>
          <a:ln>
            <a:solidFill>
              <a:srgbClr val="008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 Sustainability</a:t>
            </a:r>
          </a:p>
        </p:txBody>
      </p:sp>
      <p:sp>
        <p:nvSpPr>
          <p:cNvPr id="62" name="Oval 61">
            <a:extLst>
              <a:ext uri="{FF2B5EF4-FFF2-40B4-BE49-F238E27FC236}">
                <a16:creationId xmlns:a16="http://schemas.microsoft.com/office/drawing/2014/main" id="{AD3E216D-B2BE-9D5A-EF37-0A7A771FB2FC}"/>
              </a:ext>
            </a:extLst>
          </p:cNvPr>
          <p:cNvSpPr/>
          <p:nvPr/>
        </p:nvSpPr>
        <p:spPr>
          <a:xfrm>
            <a:off x="6355678" y="3682847"/>
            <a:ext cx="1828766" cy="914400"/>
          </a:xfrm>
          <a:prstGeom prst="ellipse">
            <a:avLst/>
          </a:prstGeom>
          <a:ln>
            <a:solidFill>
              <a:srgbClr val="0033CC"/>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dirty="0"/>
              <a:t>📊 </a:t>
            </a:r>
          </a:p>
          <a:p>
            <a:pPr algn="ctr"/>
            <a:r>
              <a:rPr lang="en-IN" dirty="0"/>
              <a:t>Business Intelligence</a:t>
            </a:r>
          </a:p>
        </p:txBody>
      </p:sp>
      <p:sp>
        <p:nvSpPr>
          <p:cNvPr id="63" name="TextBox 62">
            <a:extLst>
              <a:ext uri="{FF2B5EF4-FFF2-40B4-BE49-F238E27FC236}">
                <a16:creationId xmlns:a16="http://schemas.microsoft.com/office/drawing/2014/main" id="{26AA3899-0FBF-0172-4A0A-EDA3BC884F98}"/>
              </a:ext>
            </a:extLst>
          </p:cNvPr>
          <p:cNvSpPr txBox="1"/>
          <p:nvPr/>
        </p:nvSpPr>
        <p:spPr>
          <a:xfrm>
            <a:off x="1946120" y="4789298"/>
            <a:ext cx="5508239" cy="276999"/>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sz="1200" b="1" dirty="0">
                <a:solidFill>
                  <a:schemeClr val="tx1">
                    <a:lumMod val="65000"/>
                    <a:lumOff val="35000"/>
                  </a:schemeClr>
                </a:solidFill>
                <a:latin typeface="IBM Plex Sans" panose="020B0503050203000203" pitchFamily="34" charset="0"/>
              </a:rPr>
              <a:t>Supporting smarter, data-driven decisions for a sustainable energy future</a:t>
            </a:r>
            <a:endParaRPr lang="en-IN" sz="1200" b="1" dirty="0">
              <a:solidFill>
                <a:schemeClr val="tx1">
                  <a:lumMod val="65000"/>
                  <a:lumOff val="35000"/>
                </a:schemeClr>
              </a:solidFill>
              <a:latin typeface="IBM Plex Sans" panose="020B0503050203000203"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ppt_x"/>
                                          </p:val>
                                        </p:tav>
                                        <p:tav tm="100000">
                                          <p:val>
                                            <p:strVal val="#ppt_x"/>
                                          </p:val>
                                        </p:tav>
                                      </p:tavLst>
                                    </p:anim>
                                    <p:anim calcmode="lin" valueType="num">
                                      <p:cBhvr additive="base">
                                        <p:cTn id="8"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anim calcmode="lin" valueType="num">
                                      <p:cBhvr additive="base">
                                        <p:cTn id="13" dur="500" fill="hold"/>
                                        <p:tgtEl>
                                          <p:spTgt spid="35"/>
                                        </p:tgtEl>
                                        <p:attrNameLst>
                                          <p:attrName>ppt_x</p:attrName>
                                        </p:attrNameLst>
                                      </p:cBhvr>
                                      <p:tavLst>
                                        <p:tav tm="0">
                                          <p:val>
                                            <p:strVal val="#ppt_x"/>
                                          </p:val>
                                        </p:tav>
                                        <p:tav tm="100000">
                                          <p:val>
                                            <p:strVal val="#ppt_x"/>
                                          </p:val>
                                        </p:tav>
                                      </p:tavLst>
                                    </p:anim>
                                    <p:anim calcmode="lin" valueType="num">
                                      <p:cBhvr additive="base">
                                        <p:cTn id="14"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500" fill="hold"/>
                                        <p:tgtEl>
                                          <p:spTgt spid="47"/>
                                        </p:tgtEl>
                                        <p:attrNameLst>
                                          <p:attrName>ppt_x</p:attrName>
                                        </p:attrNameLst>
                                      </p:cBhvr>
                                      <p:tavLst>
                                        <p:tav tm="0">
                                          <p:val>
                                            <p:strVal val="#ppt_x"/>
                                          </p:val>
                                        </p:tav>
                                        <p:tav tm="100000">
                                          <p:val>
                                            <p:strVal val="#ppt_x"/>
                                          </p:val>
                                        </p:tav>
                                      </p:tavLst>
                                    </p:anim>
                                    <p:anim calcmode="lin" valueType="num">
                                      <p:cBhvr additive="base">
                                        <p:cTn id="20"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9"/>
                                        </p:tgtEl>
                                        <p:attrNameLst>
                                          <p:attrName>style.visibility</p:attrName>
                                        </p:attrNameLst>
                                      </p:cBhvr>
                                      <p:to>
                                        <p:strVal val="visible"/>
                                      </p:to>
                                    </p:set>
                                    <p:anim calcmode="lin" valueType="num">
                                      <p:cBhvr additive="base">
                                        <p:cTn id="25" dur="500" fill="hold"/>
                                        <p:tgtEl>
                                          <p:spTgt spid="49"/>
                                        </p:tgtEl>
                                        <p:attrNameLst>
                                          <p:attrName>ppt_x</p:attrName>
                                        </p:attrNameLst>
                                      </p:cBhvr>
                                      <p:tavLst>
                                        <p:tav tm="0">
                                          <p:val>
                                            <p:strVal val="#ppt_x"/>
                                          </p:val>
                                        </p:tav>
                                        <p:tav tm="100000">
                                          <p:val>
                                            <p:strVal val="#ppt_x"/>
                                          </p:val>
                                        </p:tav>
                                      </p:tavLst>
                                    </p:anim>
                                    <p:anim calcmode="lin" valueType="num">
                                      <p:cBhvr additive="base">
                                        <p:cTn id="26"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9"/>
                                        </p:tgtEl>
                                        <p:attrNameLst>
                                          <p:attrName>style.visibility</p:attrName>
                                        </p:attrNameLst>
                                      </p:cBhvr>
                                      <p:to>
                                        <p:strVal val="visible"/>
                                      </p:to>
                                    </p:set>
                                    <p:anim calcmode="lin" valueType="num">
                                      <p:cBhvr additive="base">
                                        <p:cTn id="31" dur="500" fill="hold"/>
                                        <p:tgtEl>
                                          <p:spTgt spid="59"/>
                                        </p:tgtEl>
                                        <p:attrNameLst>
                                          <p:attrName>ppt_x</p:attrName>
                                        </p:attrNameLst>
                                      </p:cBhvr>
                                      <p:tavLst>
                                        <p:tav tm="0">
                                          <p:val>
                                            <p:strVal val="#ppt_x"/>
                                          </p:val>
                                        </p:tav>
                                        <p:tav tm="100000">
                                          <p:val>
                                            <p:strVal val="#ppt_x"/>
                                          </p:val>
                                        </p:tav>
                                      </p:tavLst>
                                    </p:anim>
                                    <p:anim calcmode="lin" valueType="num">
                                      <p:cBhvr additive="base">
                                        <p:cTn id="32"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2"/>
                                        </p:tgtEl>
                                        <p:attrNameLst>
                                          <p:attrName>style.visibility</p:attrName>
                                        </p:attrNameLst>
                                      </p:cBhvr>
                                      <p:to>
                                        <p:strVal val="visible"/>
                                      </p:to>
                                    </p:set>
                                    <p:anim calcmode="lin" valueType="num">
                                      <p:cBhvr additive="base">
                                        <p:cTn id="37" dur="500" fill="hold"/>
                                        <p:tgtEl>
                                          <p:spTgt spid="62"/>
                                        </p:tgtEl>
                                        <p:attrNameLst>
                                          <p:attrName>ppt_x</p:attrName>
                                        </p:attrNameLst>
                                      </p:cBhvr>
                                      <p:tavLst>
                                        <p:tav tm="0">
                                          <p:val>
                                            <p:strVal val="#ppt_x"/>
                                          </p:val>
                                        </p:tav>
                                        <p:tav tm="100000">
                                          <p:val>
                                            <p:strVal val="#ppt_x"/>
                                          </p:val>
                                        </p:tav>
                                      </p:tavLst>
                                    </p:anim>
                                    <p:anim calcmode="lin" valueType="num">
                                      <p:cBhvr additive="base">
                                        <p:cTn id="3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5" grpId="0" animBg="1"/>
      <p:bldP spid="47" grpId="0" animBg="1"/>
      <p:bldP spid="49" grpId="0" animBg="1"/>
      <p:bldP spid="59" grpId="0" animBg="1"/>
      <p:bldP spid="6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24B9E-A836-1DD0-4988-0A4A2CB3D352}"/>
            </a:ext>
          </a:extLst>
        </p:cNvPr>
        <p:cNvGrpSpPr/>
        <p:nvPr/>
      </p:nvGrpSpPr>
      <p:grpSpPr>
        <a:xfrm>
          <a:off x="0" y="0"/>
          <a:ext cx="0" cy="0"/>
          <a:chOff x="0" y="0"/>
          <a:chExt cx="0" cy="0"/>
        </a:xfrm>
      </p:grpSpPr>
      <p:sp>
        <p:nvSpPr>
          <p:cNvPr id="8" name="Title">
            <a:extLst>
              <a:ext uri="{FF2B5EF4-FFF2-40B4-BE49-F238E27FC236}">
                <a16:creationId xmlns:a16="http://schemas.microsoft.com/office/drawing/2014/main" id="{0E4DFB09-7E63-BF37-7138-4F05A228C2DB}"/>
              </a:ext>
            </a:extLst>
          </p:cNvPr>
          <p:cNvSpPr txBox="1"/>
          <p:nvPr/>
        </p:nvSpPr>
        <p:spPr>
          <a:xfrm>
            <a:off x="368983" y="640000"/>
            <a:ext cx="8000000" cy="523220"/>
          </a:xfrm>
          <a:prstGeom prst="rect">
            <a:avLst/>
          </a:prstGeom>
          <a:noFill/>
        </p:spPr>
        <p:txBody>
          <a:bodyPr wrap="square" rtlCol="0">
            <a:spAutoFit/>
          </a:bodyPr>
          <a:lstStyle/>
          <a:p>
            <a:r>
              <a:rPr lang="en-IN" sz="2800" b="1" dirty="0">
                <a:solidFill>
                  <a:srgbClr val="008000"/>
                </a:solidFill>
                <a:latin typeface="IBM Plex Sans" panose="020B0503050203000203" pitchFamily="34" charset="0"/>
              </a:rPr>
              <a:t>Live Dashboard Demonstration</a:t>
            </a:r>
          </a:p>
        </p:txBody>
      </p:sp>
      <p:sp>
        <p:nvSpPr>
          <p:cNvPr id="9" name="Subtitle">
            <a:extLst>
              <a:ext uri="{FF2B5EF4-FFF2-40B4-BE49-F238E27FC236}">
                <a16:creationId xmlns:a16="http://schemas.microsoft.com/office/drawing/2014/main" id="{BC48F06B-C02B-D52F-DB98-2DF98F746563}"/>
              </a:ext>
            </a:extLst>
          </p:cNvPr>
          <p:cNvSpPr txBox="1"/>
          <p:nvPr/>
        </p:nvSpPr>
        <p:spPr>
          <a:xfrm>
            <a:off x="368983" y="1130000"/>
            <a:ext cx="7900000" cy="260000"/>
          </a:xfrm>
          <a:prstGeom prst="rect">
            <a:avLst/>
          </a:prstGeom>
          <a:noFill/>
        </p:spPr>
        <p:txBody>
          <a:bodyPr wrap="square" rtlCol="0">
            <a:spAutoFit/>
          </a:bodyPr>
          <a:lstStyle/>
          <a:p>
            <a:r>
              <a:rPr lang="en-IN" sz="1200" i="1" dirty="0">
                <a:solidFill>
                  <a:srgbClr val="5B6577"/>
                </a:solidFill>
                <a:latin typeface="IBM Plex Sans" panose="020B0503050203000203" pitchFamily="34" charset="0"/>
              </a:rPr>
              <a:t>Geographic and comparative views of the data</a:t>
            </a:r>
          </a:p>
        </p:txBody>
      </p:sp>
      <p:sp>
        <p:nvSpPr>
          <p:cNvPr id="20" name="Rect20">
            <a:extLst>
              <a:ext uri="{FF2B5EF4-FFF2-40B4-BE49-F238E27FC236}">
                <a16:creationId xmlns:a16="http://schemas.microsoft.com/office/drawing/2014/main" id="{CED01555-3A14-E2F0-8571-6DEBC425D2EC}"/>
              </a:ext>
            </a:extLst>
          </p:cNvPr>
          <p:cNvSpPr/>
          <p:nvPr/>
        </p:nvSpPr>
        <p:spPr>
          <a:xfrm>
            <a:off x="368983" y="1533172"/>
            <a:ext cx="4050000" cy="2077155"/>
          </a:xfrm>
          <a:prstGeom prst="rect">
            <a:avLst/>
          </a:prstGeom>
          <a:solidFill>
            <a:srgbClr val="EDF1FC"/>
          </a:solidFill>
          <a:ln>
            <a:noFill/>
          </a:ln>
        </p:spPr>
        <p:txBody>
          <a:bodyPr/>
          <a:lstStyle/>
          <a:p>
            <a:endParaRPr/>
          </a:p>
        </p:txBody>
      </p:sp>
      <p:sp>
        <p:nvSpPr>
          <p:cNvPr id="30" name="Circle30">
            <a:extLst>
              <a:ext uri="{FF2B5EF4-FFF2-40B4-BE49-F238E27FC236}">
                <a16:creationId xmlns:a16="http://schemas.microsoft.com/office/drawing/2014/main" id="{19236DFC-FBB9-1CE5-AA77-9B8E392EA100}"/>
              </a:ext>
            </a:extLst>
          </p:cNvPr>
          <p:cNvSpPr/>
          <p:nvPr/>
        </p:nvSpPr>
        <p:spPr>
          <a:xfrm>
            <a:off x="598983" y="1756586"/>
            <a:ext cx="460000" cy="460000"/>
          </a:xfrm>
          <a:prstGeom prst="ellipse">
            <a:avLst/>
          </a:prstGeom>
          <a:solidFill>
            <a:srgbClr val="0532B3"/>
          </a:solidFill>
          <a:ln>
            <a:noFill/>
          </a:ln>
        </p:spPr>
        <p:txBody>
          <a:bodyPr/>
          <a:lstStyle/>
          <a:p>
            <a:endParaRPr/>
          </a:p>
        </p:txBody>
      </p:sp>
      <p:sp>
        <p:nvSpPr>
          <p:cNvPr id="31" name="Glyph31">
            <a:extLst>
              <a:ext uri="{FF2B5EF4-FFF2-40B4-BE49-F238E27FC236}">
                <a16:creationId xmlns:a16="http://schemas.microsoft.com/office/drawing/2014/main" id="{97C4602B-6351-2F07-95D6-8E41BA01D9C6}"/>
              </a:ext>
            </a:extLst>
          </p:cNvPr>
          <p:cNvSpPr/>
          <p:nvPr/>
        </p:nvSpPr>
        <p:spPr>
          <a:xfrm>
            <a:off x="748983" y="1876586"/>
            <a:ext cx="160000" cy="220000"/>
          </a:xfrm>
          <a:prstGeom prst="teardrop">
            <a:avLst/>
          </a:prstGeom>
          <a:solidFill>
            <a:srgbClr val="FFFFFF"/>
          </a:solidFill>
          <a:ln>
            <a:noFill/>
          </a:ln>
        </p:spPr>
        <p:txBody>
          <a:bodyPr/>
          <a:lstStyle/>
          <a:p>
            <a:endParaRPr/>
          </a:p>
        </p:txBody>
      </p:sp>
      <p:sp>
        <p:nvSpPr>
          <p:cNvPr id="40" name="Text40">
            <a:extLst>
              <a:ext uri="{FF2B5EF4-FFF2-40B4-BE49-F238E27FC236}">
                <a16:creationId xmlns:a16="http://schemas.microsoft.com/office/drawing/2014/main" id="{13628351-B773-2542-059A-FBE7FC21F568}"/>
              </a:ext>
            </a:extLst>
          </p:cNvPr>
          <p:cNvSpPr txBox="1"/>
          <p:nvPr/>
        </p:nvSpPr>
        <p:spPr>
          <a:xfrm>
            <a:off x="598983" y="2336422"/>
            <a:ext cx="3590000" cy="400000"/>
          </a:xfrm>
          <a:prstGeom prst="rect">
            <a:avLst/>
          </a:prstGeom>
          <a:noFill/>
        </p:spPr>
        <p:txBody>
          <a:bodyPr wrap="square" lIns="0" tIns="0" rIns="0" bIns="0" anchor="t">
            <a:normAutofit/>
          </a:bodyPr>
          <a:lstStyle/>
          <a:p>
            <a:pPr algn="l"/>
            <a:r>
              <a:rPr lang="en-IN" sz="1600" b="1" i="0" dirty="0">
                <a:solidFill>
                  <a:srgbClr val="0532B3"/>
                </a:solidFill>
                <a:latin typeface="IBM Plex Sans SemiBold" panose="020B0503050203000203" pitchFamily="34" charset="0"/>
              </a:rPr>
              <a:t>Link</a:t>
            </a:r>
          </a:p>
        </p:txBody>
      </p:sp>
      <p:sp>
        <p:nvSpPr>
          <p:cNvPr id="41" name="Text41">
            <a:extLst>
              <a:ext uri="{FF2B5EF4-FFF2-40B4-BE49-F238E27FC236}">
                <a16:creationId xmlns:a16="http://schemas.microsoft.com/office/drawing/2014/main" id="{640C59D3-CB73-2ABF-9977-57720A61D9D0}"/>
              </a:ext>
            </a:extLst>
          </p:cNvPr>
          <p:cNvSpPr txBox="1"/>
          <p:nvPr/>
        </p:nvSpPr>
        <p:spPr>
          <a:xfrm>
            <a:off x="598983" y="2689672"/>
            <a:ext cx="3590000" cy="850000"/>
          </a:xfrm>
          <a:prstGeom prst="rect">
            <a:avLst/>
          </a:prstGeom>
          <a:noFill/>
        </p:spPr>
        <p:txBody>
          <a:bodyPr wrap="square" lIns="0" tIns="0" rIns="0" bIns="0" anchor="t">
            <a:normAutofit/>
          </a:bodyPr>
          <a:lstStyle/>
          <a:p>
            <a:r>
              <a:rPr lang="en-IN" sz="1250" b="0" i="0" dirty="0">
                <a:solidFill>
                  <a:srgbClr val="333A47"/>
                </a:solidFill>
                <a:latin typeface="IBM Plex Sans" panose="020B0503050203000203" pitchFamily="34" charset="0"/>
                <a:hlinkClick r:id="rId2"/>
              </a:rPr>
              <a:t>https://public.tableau.com/app/profile/shreya.mishra1905/viz/Global_Energy_Transition_Dashboard/GlobalEnergyTransitionDashboard?publish=yes</a:t>
            </a:r>
            <a:endParaRPr lang="en-IN" sz="1250" b="0" i="0" dirty="0">
              <a:solidFill>
                <a:srgbClr val="333A47"/>
              </a:solidFill>
              <a:latin typeface="IBM Plex Sans" panose="020B0503050203000203" pitchFamily="34" charset="0"/>
            </a:endParaRPr>
          </a:p>
        </p:txBody>
      </p:sp>
      <p:pic>
        <p:nvPicPr>
          <p:cNvPr id="10" name="Picture 9">
            <a:extLst>
              <a:ext uri="{FF2B5EF4-FFF2-40B4-BE49-F238E27FC236}">
                <a16:creationId xmlns:a16="http://schemas.microsoft.com/office/drawing/2014/main" id="{FCBE4B95-A9A8-3D1D-289E-B29556B7F9A4}"/>
              </a:ext>
            </a:extLst>
          </p:cNvPr>
          <p:cNvPicPr>
            <a:picLocks noChangeAspect="1"/>
          </p:cNvPicPr>
          <p:nvPr/>
        </p:nvPicPr>
        <p:blipFill>
          <a:blip r:embed="rId3"/>
          <a:stretch>
            <a:fillRect/>
          </a:stretch>
        </p:blipFill>
        <p:spPr>
          <a:xfrm>
            <a:off x="368983" y="165591"/>
            <a:ext cx="1009929" cy="393439"/>
          </a:xfrm>
          <a:prstGeom prst="rect">
            <a:avLst/>
          </a:prstGeom>
        </p:spPr>
      </p:pic>
      <p:pic>
        <p:nvPicPr>
          <p:cNvPr id="4" name="Picture 3">
            <a:extLst>
              <a:ext uri="{FF2B5EF4-FFF2-40B4-BE49-F238E27FC236}">
                <a16:creationId xmlns:a16="http://schemas.microsoft.com/office/drawing/2014/main" id="{C8E8CEA4-1F5E-1178-7398-5ABBAEB4CC36}"/>
              </a:ext>
            </a:extLst>
          </p:cNvPr>
          <p:cNvPicPr>
            <a:picLocks noChangeAspect="1"/>
          </p:cNvPicPr>
          <p:nvPr/>
        </p:nvPicPr>
        <p:blipFill>
          <a:blip r:embed="rId4"/>
          <a:stretch>
            <a:fillRect/>
          </a:stretch>
        </p:blipFill>
        <p:spPr>
          <a:xfrm>
            <a:off x="7978488" y="165591"/>
            <a:ext cx="796529" cy="705085"/>
          </a:xfrm>
          <a:prstGeom prst="rect">
            <a:avLst/>
          </a:prstGeom>
        </p:spPr>
      </p:pic>
      <p:pic>
        <p:nvPicPr>
          <p:cNvPr id="13" name="Picture 12">
            <a:extLst>
              <a:ext uri="{FF2B5EF4-FFF2-40B4-BE49-F238E27FC236}">
                <a16:creationId xmlns:a16="http://schemas.microsoft.com/office/drawing/2014/main" id="{B3A96AE5-4B87-736F-D7DB-3586790B9C64}"/>
              </a:ext>
            </a:extLst>
          </p:cNvPr>
          <p:cNvPicPr>
            <a:picLocks noChangeAspect="1"/>
          </p:cNvPicPr>
          <p:nvPr/>
        </p:nvPicPr>
        <p:blipFill>
          <a:blip r:embed="rId5"/>
          <a:srcRect t="6868" b="12443"/>
          <a:stretch>
            <a:fillRect/>
          </a:stretch>
        </p:blipFill>
        <p:spPr>
          <a:xfrm>
            <a:off x="4748787" y="1163221"/>
            <a:ext cx="3823213" cy="1408530"/>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FAD5D93A-1D56-F0CC-C6D2-DD08ABA29B54}"/>
              </a:ext>
            </a:extLst>
          </p:cNvPr>
          <p:cNvPicPr>
            <a:picLocks noChangeAspect="1"/>
          </p:cNvPicPr>
          <p:nvPr/>
        </p:nvPicPr>
        <p:blipFill>
          <a:blip r:embed="rId6"/>
          <a:srcRect t="6747" b="14184"/>
          <a:stretch>
            <a:fillRect/>
          </a:stretch>
        </p:blipFill>
        <p:spPr>
          <a:xfrm>
            <a:off x="4725019" y="2736422"/>
            <a:ext cx="3846981" cy="1408531"/>
          </a:xfrm>
          <a:prstGeom prst="rect">
            <a:avLst/>
          </a:prstGeom>
          <a:ln>
            <a:noFill/>
          </a:ln>
          <a:effectLst>
            <a:outerShdw blurRad="292100" dist="139700" dir="2700000" algn="tl" rotWithShape="0">
              <a:srgbClr val="333333">
                <a:alpha val="65000"/>
              </a:srgbClr>
            </a:outerShdw>
          </a:effectLst>
        </p:spPr>
      </p:pic>
      <p:sp>
        <p:nvSpPr>
          <p:cNvPr id="16" name="Rectangle 15">
            <a:extLst>
              <a:ext uri="{FF2B5EF4-FFF2-40B4-BE49-F238E27FC236}">
                <a16:creationId xmlns:a16="http://schemas.microsoft.com/office/drawing/2014/main" id="{3A6E96C2-6A3D-955E-244A-79A7DB8BEEC7}"/>
              </a:ext>
            </a:extLst>
          </p:cNvPr>
          <p:cNvSpPr/>
          <p:nvPr/>
        </p:nvSpPr>
        <p:spPr>
          <a:xfrm>
            <a:off x="992798" y="4021642"/>
            <a:ext cx="2802370" cy="707886"/>
          </a:xfrm>
          <a:prstGeom prst="rect">
            <a:avLst/>
          </a:prstGeom>
          <a:noFill/>
        </p:spPr>
        <p:txBody>
          <a:bodyPr wrap="none" lIns="91440" tIns="45720" rIns="91440" bIns="45720">
            <a:spAutoFit/>
          </a:bodyPr>
          <a:lstStyle/>
          <a:p>
            <a:pPr algn="ctr"/>
            <a:r>
              <a:rPr lang="en-US" sz="40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a:t>
            </a:r>
          </a:p>
        </p:txBody>
      </p:sp>
    </p:spTree>
    <p:extLst>
      <p:ext uri="{BB962C8B-B14F-4D97-AF65-F5344CB8AC3E}">
        <p14:creationId xmlns:p14="http://schemas.microsoft.com/office/powerpoint/2010/main" val="29962636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16"/>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1804</TotalTime>
  <Words>592</Words>
  <Application>Microsoft Office PowerPoint</Application>
  <PresentationFormat>On-screen Show (16:9)</PresentationFormat>
  <Paragraphs>125</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Tahoma</vt:lpstr>
      <vt:lpstr>Arial</vt:lpstr>
      <vt:lpstr>IBM Plex Sans SemiBold</vt:lpstr>
      <vt:lpstr>Helvetica Neue Light</vt:lpstr>
      <vt:lpstr>Wingdings</vt:lpstr>
      <vt:lpstr>Calibri</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Tanuja Singh</dc:creator>
  <cp:lastModifiedBy>Shreya Mishra</cp:lastModifiedBy>
  <cp:revision>8</cp:revision>
  <dcterms:modified xsi:type="dcterms:W3CDTF">2026-07-27T16:16:49Z</dcterms:modified>
</cp:coreProperties>
</file>